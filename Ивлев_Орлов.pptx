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0" r:id="rId7"/>
  </p:sldIdLst>
  <p:sldSz cx="14630400" cy="8229600"/>
  <p:notesSz cx="8229600" cy="14630400"/>
  <p:embeddedFontLst>
    <p:embeddedFont>
      <p:font typeface="Instrument Sans Semi Bold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nstrument Sans Medium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B2E"/>
    <a:srgbClr val="363333"/>
    <a:srgbClr val="424040"/>
    <a:srgbClr val="3D3636"/>
    <a:srgbClr val="262323"/>
    <a:srgbClr val="524B4B"/>
    <a:srgbClr val="3B3535"/>
    <a:srgbClr val="2E2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92D0F-8C17-4D16-ABD2-CD92393579B4}" v="235" dt="2026-01-19T18:58:45.972"/>
    <p1510:client id="{76080BC5-4F50-44BA-A242-8845B2631318}" v="34" dt="2026-01-19T17:32:01.710"/>
    <p1510:client id="{85834DF8-289F-43C4-BBAE-785052CB4DEB}" v="114" dt="2026-01-19T14:13:05.592"/>
    <p1510:client id="{E51E5E55-332F-47B2-9807-4D31B094B2D3}" v="272" dt="2026-01-19T13:50:49.190"/>
    <p1510:client id="{FAA86AF8-0166-4464-8523-C01B0768F8F9}" v="90" dt="2026-01-19T18:07:35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32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F41E3-6CD6-4EDA-B5AE-22A69ED66ACA}" type="datetimeFigureOut"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BBC06-E51F-4AFC-8AB0-AC08D7C0B89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28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092B-D6FA-5464-F6F7-EFB7F386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9F516-A429-BEB5-9376-FEFB8B000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DD425-FFB0-6040-0D0A-F67E1500A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040E-B0AF-DE54-E041-CB1A43AD5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43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092B-D6FA-5464-F6F7-EFB7F386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9F516-A429-BEB5-9376-FEFB8B000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DD425-FFB0-6040-0D0A-F67E1500A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040E-B0AF-DE54-E041-CB1A43AD5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61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5.png"/><Relationship Id="rId18" Type="http://schemas.openxmlformats.org/officeDocument/2006/relationships/image" Target="../media/image19.png"/><Relationship Id="rId3" Type="http://schemas.openxmlformats.org/officeDocument/2006/relationships/image" Target="../media/image12.png"/><Relationship Id="rId12" Type="http://schemas.microsoft.com/office/2007/relationships/hdphoto" Target="../media/hdphoto2.wdp"/><Relationship Id="rId17" Type="http://schemas.microsoft.com/office/2007/relationships/hdphoto" Target="../media/hdphoto3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5" Type="http://schemas.openxmlformats.org/officeDocument/2006/relationships/image" Target="../media/image17.png"/><Relationship Id="rId10" Type="http://schemas.microsoft.com/office/2007/relationships/hdphoto" Target="../media/hdphoto1.wdp"/><Relationship Id="rId19" Type="http://schemas.microsoft.com/office/2007/relationships/hdphoto" Target="../media/hdphoto4.wdp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552" y="193094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 smtClean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Мобильное</a:t>
            </a:r>
            <a:r>
              <a:rPr lang="en-US" sz="4450" dirty="0" smtClean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искусственным интеллектом: Ваш домашний тренер SmartFit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436935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4603790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15390" y="479083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5511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Визуальный Анализ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600146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Камера фиксирует ваши движения.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36935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4603790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638562" y="4790837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5511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ИИ-Аналитика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51396" y="600146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Искусственный интеллект оценивает технику.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4369356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568" y="4603790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061734" y="4790837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4568" y="5511046"/>
            <a:ext cx="3143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Персональный Тренер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4568" y="600146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Подсказки в реальном времени.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13C33F9-0904-60D9-51EE-67044F1B7CEB}"/>
              </a:ext>
            </a:extLst>
          </p:cNvPr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22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Актуальность проекта: Революция домашних тренировок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294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 современном мире, где время становится всё более ценным ресурсом, домашние тренировки набирают популярность. Однако отсутствие квалифицированного контроля часто приводит к неэффективным занятиям и даже травмам.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946803"/>
            <a:ext cx="121920" cy="24566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Домашний Фитнес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469451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Растущий тренд, требующий адекватной поддержки и контроля.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946803"/>
            <a:ext cx="121920" cy="24566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65696" y="4204097"/>
            <a:ext cx="33800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Отсутствие Конкурентов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565696" y="469451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рынке отсутствуют аналоги, предлагающие комплексный анализ техники выполнения упражнений.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946803"/>
            <a:ext cx="121920" cy="24566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88868" y="4204097"/>
            <a:ext cx="3163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Удобство для Пожилых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988868" y="4694515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Идеальное решение для тех, кто предпочитает комфорт и уединение домашней обстановки.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6831" y="945475"/>
            <a:ext cx="7963138" cy="1581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Проблемы, которые мы решаем: путь к безопасным и эффективным тренировкам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076831" y="2931914"/>
            <a:ext cx="4194453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Отсутствие немедленной обратной связи по технике выполнения упражнений – одна из ключевых проблем домашних тренировок, которая может привести к: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76831" y="4163378"/>
            <a:ext cx="419445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Риску травм из-за неправильной постановки тела и движений.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76831" y="4762143"/>
            <a:ext cx="419445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Низкой эффективности тренировок без понимания ошибок.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6831" y="5360908"/>
            <a:ext cx="4194453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Недостаточной мотивации из-за отсутствия видимого прогресса.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76831" y="6052542"/>
            <a:ext cx="4194453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Кроме того, высокая стоимость персональных тренеров делает их недоступными для многих, а </a:t>
            </a:r>
            <a:r>
              <a:rPr lang="en-US" sz="13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существующие</a:t>
            </a: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00" dirty="0" err="1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фитнес</a:t>
            </a:r>
            <a:r>
              <a:rPr lang="en-US" sz="13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</a:t>
            </a:r>
            <a:r>
              <a:rPr lang="ru-RU" sz="13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приложения</a:t>
            </a:r>
            <a:r>
              <a:rPr lang="en-US" sz="13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 предлагают функционала по анализу техники.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90384" y="2931914"/>
            <a:ext cx="335708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90384" y="3353633"/>
            <a:ext cx="335708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90384" y="3775353"/>
            <a:ext cx="335708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5332" y="4235053"/>
            <a:ext cx="2287072" cy="2287072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10DD12E-792C-C46C-DB33-A57FE5683ECF}"/>
              </a:ext>
            </a:extLst>
          </p:cNvPr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40A4-91E8-F249-87AD-9349D14C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F2CBEA-8790-A212-20D8-A688B6E4D6CB}"/>
              </a:ext>
            </a:extLst>
          </p:cNvPr>
          <p:cNvSpPr/>
          <p:nvPr/>
        </p:nvSpPr>
        <p:spPr>
          <a:xfrm>
            <a:off x="2841744" y="480756"/>
            <a:ext cx="580310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rgbClr val="CBCCCE"/>
              </a:solidFill>
              <a:latin typeface="Instrument Sans Semi Bol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918E15-3D22-4C96-5BAC-08C95B612B00}"/>
              </a:ext>
            </a:extLst>
          </p:cNvPr>
          <p:cNvSpPr/>
          <p:nvPr/>
        </p:nvSpPr>
        <p:spPr>
          <a:xfrm>
            <a:off x="793790" y="3054668"/>
            <a:ext cx="3564584" cy="100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8F716E8-73EB-C8D2-CD99-A4AC3735D476}"/>
              </a:ext>
            </a:extLst>
          </p:cNvPr>
          <p:cNvSpPr/>
          <p:nvPr/>
        </p:nvSpPr>
        <p:spPr>
          <a:xfrm>
            <a:off x="8654153" y="2972372"/>
            <a:ext cx="51991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800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F255A41-48D8-D486-9667-9FD2216B4C80}"/>
              </a:ext>
            </a:extLst>
          </p:cNvPr>
          <p:cNvSpPr/>
          <p:nvPr/>
        </p:nvSpPr>
        <p:spPr>
          <a:xfrm>
            <a:off x="8645009" y="3583858"/>
            <a:ext cx="5191545" cy="214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800" dirty="0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8826AC-3B1F-2F45-E8E0-3560073B17BE}"/>
              </a:ext>
            </a:extLst>
          </p:cNvPr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F4A6B-F7CB-F68A-CB26-8F6914BC005B}"/>
              </a:ext>
            </a:extLst>
          </p:cNvPr>
          <p:cNvSpPr txBox="1"/>
          <p:nvPr/>
        </p:nvSpPr>
        <p:spPr>
          <a:xfrm>
            <a:off x="648883" y="608850"/>
            <a:ext cx="721913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ea typeface="Calibri"/>
                <a:cs typeface="Calibri"/>
              </a:rPr>
              <a:t>Программная часть проекта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31C27-B5D4-C0CD-7A3A-42D5B9098450}"/>
              </a:ext>
            </a:extLst>
          </p:cNvPr>
          <p:cNvSpPr txBox="1"/>
          <p:nvPr/>
        </p:nvSpPr>
        <p:spPr>
          <a:xfrm>
            <a:off x="2005911" y="1763464"/>
            <a:ext cx="254549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dirty="0" smtClean="0">
                <a:solidFill>
                  <a:schemeClr val="bg1"/>
                </a:solidFill>
                <a:cs typeface="Calibri"/>
              </a:rPr>
              <a:t>Java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9" name="Рисунок 18" descr="Изображение выглядит как круг, шаблон, Симметр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0F8BB6-7F56-38C4-415D-1DA4D4E1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59" y="4839388"/>
            <a:ext cx="934880" cy="8939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E2E4FBC-7813-A5EE-3DFD-A09A5A337DC9}"/>
              </a:ext>
            </a:extLst>
          </p:cNvPr>
          <p:cNvSpPr txBox="1"/>
          <p:nvPr/>
        </p:nvSpPr>
        <p:spPr>
          <a:xfrm>
            <a:off x="1997677" y="4934464"/>
            <a:ext cx="25537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000" dirty="0" err="1">
                <a:solidFill>
                  <a:schemeClr val="bg1"/>
                </a:solidFill>
                <a:ea typeface="Calibri"/>
                <a:cs typeface="Calibri"/>
              </a:rPr>
              <a:t>MediaPipe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259AA9-BC61-B119-E605-1376AC58DC1F}"/>
              </a:ext>
            </a:extLst>
          </p:cNvPr>
          <p:cNvSpPr txBox="1"/>
          <p:nvPr/>
        </p:nvSpPr>
        <p:spPr>
          <a:xfrm>
            <a:off x="2113005" y="6339015"/>
            <a:ext cx="23601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dirty="0" smtClean="0">
                <a:solidFill>
                  <a:schemeClr val="bg1"/>
                </a:solidFill>
                <a:cs typeface="Calibri"/>
              </a:rPr>
              <a:t>JavaScript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87F9BBF-4D26-A3F3-79A5-5FCF4C9E8847}"/>
              </a:ext>
            </a:extLst>
          </p:cNvPr>
          <p:cNvSpPr/>
          <p:nvPr/>
        </p:nvSpPr>
        <p:spPr>
          <a:xfrm>
            <a:off x="7318158" y="2054523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A2DAD8F1-C5DD-0E1F-8DC7-ADC70DF3EA40}"/>
              </a:ext>
            </a:extLst>
          </p:cNvPr>
          <p:cNvSpPr/>
          <p:nvPr/>
        </p:nvSpPr>
        <p:spPr>
          <a:xfrm>
            <a:off x="8785052" y="3723901"/>
            <a:ext cx="5191545" cy="214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800" dirty="0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94294EFF-4844-8831-25C7-3B4CACFDF94C}"/>
              </a:ext>
            </a:extLst>
          </p:cNvPr>
          <p:cNvSpPr/>
          <p:nvPr/>
        </p:nvSpPr>
        <p:spPr>
          <a:xfrm>
            <a:off x="10415585" y="2017946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D5DA9C14-CF44-057B-5BC4-4FEF3A1FE40B}"/>
              </a:ext>
            </a:extLst>
          </p:cNvPr>
          <p:cNvSpPr/>
          <p:nvPr/>
        </p:nvSpPr>
        <p:spPr>
          <a:xfrm>
            <a:off x="7318158" y="3940988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2D4F32F-9FEB-75D8-E18E-A0A795D409CA}"/>
              </a:ext>
            </a:extLst>
          </p:cNvPr>
          <p:cNvSpPr/>
          <p:nvPr/>
        </p:nvSpPr>
        <p:spPr>
          <a:xfrm>
            <a:off x="10415585" y="3940987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9F7ACC1-A9F6-8D75-6036-B53E4A175549}"/>
              </a:ext>
            </a:extLst>
          </p:cNvPr>
          <p:cNvSpPr/>
          <p:nvPr/>
        </p:nvSpPr>
        <p:spPr>
          <a:xfrm>
            <a:off x="7318158" y="5819216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279A384D-6B2B-3C2F-75F9-92B0D61D2F91}"/>
              </a:ext>
            </a:extLst>
          </p:cNvPr>
          <p:cNvSpPr/>
          <p:nvPr/>
        </p:nvSpPr>
        <p:spPr>
          <a:xfrm>
            <a:off x="10407347" y="5819215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2B1D05D-FE63-E025-1F1E-6ACEFA34FE5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 contrast="7000"/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747995" y="2179442"/>
            <a:ext cx="816855" cy="7921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835E70-C9EC-A146-DFE4-D33645A372B0}"/>
              </a:ext>
            </a:extLst>
          </p:cNvPr>
          <p:cNvSpPr txBox="1"/>
          <p:nvPr/>
        </p:nvSpPr>
        <p:spPr>
          <a:xfrm>
            <a:off x="7414054" y="3113902"/>
            <a:ext cx="15693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3200" dirty="0">
                <a:solidFill>
                  <a:schemeClr val="bg1"/>
                </a:solidFill>
                <a:ea typeface="Calibri"/>
                <a:cs typeface="Calibri"/>
              </a:rPr>
              <a:t>Камера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27" name="Рисунок 26" descr="Изображение выглядит как круг, шаблон, Симметр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B0E43E-2703-B112-D41C-D46C616D53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03522" y="2179442"/>
            <a:ext cx="843440" cy="7293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7107849-1AB3-87E4-56A4-D315C9563B35}"/>
              </a:ext>
            </a:extLst>
          </p:cNvPr>
          <p:cNvSpPr txBox="1"/>
          <p:nvPr/>
        </p:nvSpPr>
        <p:spPr>
          <a:xfrm>
            <a:off x="10420019" y="3113902"/>
            <a:ext cx="17561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 err="1">
                <a:solidFill>
                  <a:schemeClr val="bg1"/>
                </a:solidFill>
                <a:ea typeface="Calibri"/>
                <a:cs typeface="Calibri"/>
              </a:rPr>
              <a:t>MediaPipe</a:t>
            </a:r>
            <a:endParaRPr lang="ru-RU" sz="2800" dirty="0" err="1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CC770-6D16-117C-50C3-DA024482A959}"/>
              </a:ext>
            </a:extLst>
          </p:cNvPr>
          <p:cNvSpPr txBox="1"/>
          <p:nvPr/>
        </p:nvSpPr>
        <p:spPr>
          <a:xfrm>
            <a:off x="6886395" y="5110057"/>
            <a:ext cx="26246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dirty="0" smtClean="0">
                <a:solidFill>
                  <a:schemeClr val="bg1"/>
                </a:solidFill>
                <a:cs typeface="Calibri"/>
              </a:rPr>
              <a:t>Android Bridge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72596-2958-2381-ED85-483A57842C9D}"/>
              </a:ext>
            </a:extLst>
          </p:cNvPr>
          <p:cNvSpPr txBox="1"/>
          <p:nvPr/>
        </p:nvSpPr>
        <p:spPr>
          <a:xfrm>
            <a:off x="7496261" y="7028237"/>
            <a:ext cx="13686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solidFill>
                  <a:schemeClr val="bg1"/>
                </a:solidFill>
                <a:ea typeface="Calibri"/>
                <a:cs typeface="Calibri"/>
              </a:rPr>
              <a:t>Анализ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3D061F-78B2-4D1D-43A7-E24B32BE6427}"/>
              </a:ext>
            </a:extLst>
          </p:cNvPr>
          <p:cNvSpPr txBox="1"/>
          <p:nvPr/>
        </p:nvSpPr>
        <p:spPr>
          <a:xfrm>
            <a:off x="8837327" y="605890"/>
            <a:ext cx="176854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chemeClr val="bg1"/>
                </a:solidFill>
                <a:ea typeface="Calibri"/>
                <a:cs typeface="Calibri"/>
              </a:rPr>
              <a:t>Схема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38" name="Стрелка: вправо 37">
            <a:extLst>
              <a:ext uri="{FF2B5EF4-FFF2-40B4-BE49-F238E27FC236}">
                <a16:creationId xmlns:a16="http://schemas.microsoft.com/office/drawing/2014/main" id="{8A8DF20B-D74B-B100-D854-051E25A39A1A}"/>
              </a:ext>
            </a:extLst>
          </p:cNvPr>
          <p:cNvSpPr/>
          <p:nvPr/>
        </p:nvSpPr>
        <p:spPr>
          <a:xfrm>
            <a:off x="9131643" y="2323070"/>
            <a:ext cx="1087394" cy="5931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: изогнутая влево 38">
            <a:extLst>
              <a:ext uri="{FF2B5EF4-FFF2-40B4-BE49-F238E27FC236}">
                <a16:creationId xmlns:a16="http://schemas.microsoft.com/office/drawing/2014/main" id="{4C3DAE8B-89F0-2AF4-A9FE-DD1CBC5A50B9}"/>
              </a:ext>
            </a:extLst>
          </p:cNvPr>
          <p:cNvSpPr/>
          <p:nvPr/>
        </p:nvSpPr>
        <p:spPr>
          <a:xfrm>
            <a:off x="12220832" y="2471350"/>
            <a:ext cx="1013254" cy="237249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0" name="Стрелка: влево 39">
            <a:extLst>
              <a:ext uri="{FF2B5EF4-FFF2-40B4-BE49-F238E27FC236}">
                <a16:creationId xmlns:a16="http://schemas.microsoft.com/office/drawing/2014/main" id="{FA8F7D0C-65BC-018F-165D-D76258E68C09}"/>
              </a:ext>
            </a:extLst>
          </p:cNvPr>
          <p:cNvSpPr/>
          <p:nvPr/>
        </p:nvSpPr>
        <p:spPr>
          <a:xfrm>
            <a:off x="9067715" y="4193740"/>
            <a:ext cx="1207080" cy="60619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" name="Рисунок 4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727FC0-5969-8620-0A1C-9F08D913BB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8030" y="5904908"/>
            <a:ext cx="828932" cy="837171"/>
          </a:xfrm>
          <a:prstGeom prst="rect">
            <a:avLst/>
          </a:prstGeom>
        </p:spPr>
      </p:pic>
      <p:sp>
        <p:nvSpPr>
          <p:cNvPr id="43" name="Стрелка: изогнутая вправо 42">
            <a:extLst>
              <a:ext uri="{FF2B5EF4-FFF2-40B4-BE49-F238E27FC236}">
                <a16:creationId xmlns:a16="http://schemas.microsoft.com/office/drawing/2014/main" id="{5B16E754-09DE-11C8-9AFD-9DA37C581A3E}"/>
              </a:ext>
            </a:extLst>
          </p:cNvPr>
          <p:cNvSpPr/>
          <p:nvPr/>
        </p:nvSpPr>
        <p:spPr>
          <a:xfrm>
            <a:off x="6067167" y="4423718"/>
            <a:ext cx="1050324" cy="2211859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7411EF-3ADE-5F13-68B9-0E21B1E08854}"/>
              </a:ext>
            </a:extLst>
          </p:cNvPr>
          <p:cNvSpPr txBox="1"/>
          <p:nvPr/>
        </p:nvSpPr>
        <p:spPr>
          <a:xfrm>
            <a:off x="10025448" y="7043350"/>
            <a:ext cx="27061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libri"/>
                <a:cs typeface="Calibri"/>
              </a:rPr>
              <a:t>Обратная связь</a:t>
            </a:r>
          </a:p>
        </p:txBody>
      </p:sp>
      <p:sp>
        <p:nvSpPr>
          <p:cNvPr id="45" name="Стрелка: вправо 44">
            <a:extLst>
              <a:ext uri="{FF2B5EF4-FFF2-40B4-BE49-F238E27FC236}">
                <a16:creationId xmlns:a16="http://schemas.microsoft.com/office/drawing/2014/main" id="{3756F46C-A6E9-DF5F-F571-BE8E3A21779B}"/>
              </a:ext>
            </a:extLst>
          </p:cNvPr>
          <p:cNvSpPr/>
          <p:nvPr/>
        </p:nvSpPr>
        <p:spPr>
          <a:xfrm>
            <a:off x="9115167" y="6038334"/>
            <a:ext cx="1153297" cy="613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721977" y="77888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80" y="1378291"/>
            <a:ext cx="819759" cy="1505077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48" y="3180549"/>
            <a:ext cx="2463089" cy="1167504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96" y="6150311"/>
            <a:ext cx="1006726" cy="1006726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70691" y="4036283"/>
            <a:ext cx="889948" cy="889948"/>
          </a:xfrm>
          <a:prstGeom prst="rect">
            <a:avLst/>
          </a:prstGeom>
        </p:spPr>
      </p:pic>
      <p:sp>
        <p:nvSpPr>
          <p:cNvPr id="50" name="Прямоугольник 49"/>
          <p:cNvSpPr/>
          <p:nvPr/>
        </p:nvSpPr>
        <p:spPr>
          <a:xfrm>
            <a:off x="10537653" y="5067082"/>
            <a:ext cx="1419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Calibri"/>
              </a:rPr>
              <a:t>JavaScript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904" y="3985961"/>
            <a:ext cx="476859" cy="875513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2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029" y="6005377"/>
            <a:ext cx="1405599" cy="66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3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40A4-91E8-F249-87AD-9349D14C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Скругленная соединительная линия 96"/>
          <p:cNvCxnSpPr>
            <a:endCxn id="8" idx="1"/>
          </p:cNvCxnSpPr>
          <p:nvPr/>
        </p:nvCxnSpPr>
        <p:spPr>
          <a:xfrm rot="5400000" flipH="1" flipV="1">
            <a:off x="3806982" y="2601840"/>
            <a:ext cx="2879558" cy="1157014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Скругленная соединительная линия 95"/>
          <p:cNvCxnSpPr>
            <a:stCxn id="8" idx="1"/>
          </p:cNvCxnSpPr>
          <p:nvPr/>
        </p:nvCxnSpPr>
        <p:spPr>
          <a:xfrm rot="10800000" flipV="1">
            <a:off x="1868906" y="1740568"/>
            <a:ext cx="3956363" cy="4748464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79179" y="7652518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268" y="754593"/>
            <a:ext cx="7487695" cy="1971950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3" y="4434066"/>
            <a:ext cx="5545906" cy="2984371"/>
          </a:xfrm>
          <a:prstGeom prst="rect">
            <a:avLst/>
          </a:prstGeom>
        </p:spPr>
      </p:pic>
      <p:cxnSp>
        <p:nvCxnSpPr>
          <p:cNvPr id="61" name="Прямая соединительная линия 60"/>
          <p:cNvCxnSpPr/>
          <p:nvPr/>
        </p:nvCxnSpPr>
        <p:spPr>
          <a:xfrm>
            <a:off x="8213558" y="2890764"/>
            <a:ext cx="2590800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720297" y="4924789"/>
            <a:ext cx="18102" cy="20029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8213558" y="581315"/>
            <a:ext cx="2590800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/>
          <p:nvPr/>
        </p:nvCxnSpPr>
        <p:spPr>
          <a:xfrm flipH="1">
            <a:off x="356873" y="4924788"/>
            <a:ext cx="18102" cy="20029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Рисунок 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558" y="3778483"/>
            <a:ext cx="3519897" cy="3519897"/>
          </a:xfrm>
          <a:prstGeom prst="rect">
            <a:avLst/>
          </a:prstGeom>
        </p:spPr>
      </p:pic>
      <p:cxnSp>
        <p:nvCxnSpPr>
          <p:cNvPr id="103" name="Скругленная соединительная линия 102"/>
          <p:cNvCxnSpPr>
            <a:stCxn id="8" idx="1"/>
            <a:endCxn id="24" idx="0"/>
          </p:cNvCxnSpPr>
          <p:nvPr/>
        </p:nvCxnSpPr>
        <p:spPr>
          <a:xfrm rot="10800000" flipV="1">
            <a:off x="3547636" y="1740568"/>
            <a:ext cx="2277632" cy="2693498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4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486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542" y="3374588"/>
            <a:ext cx="11916966" cy="637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Будущее тренировок: Инновации и доступность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3542" y="4317444"/>
            <a:ext cx="13203317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ru-RU" sz="16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Мобильное </a:t>
            </a:r>
            <a:r>
              <a:rPr lang="en-US" sz="16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 </a:t>
            </a: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ИИ — это не просто гаджет, а полноценный инструмент для достижения ваших фитнес-целей. Оно сочетает в себе профессиональный контроль, доступность и удобство, открывая новую эру в домашнем фитнесе.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542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4997" y="5410676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Новый уровень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24997" y="5851565"/>
            <a:ext cx="3842266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Профессиональный контроль у вас дома.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2553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008" y="5410676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Без аналогов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394008" y="5851565"/>
            <a:ext cx="3842266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Уникальный продукт на рынке фитнес-технологий.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51563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63018" y="5410676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Ваш путь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63018" y="5851565"/>
            <a:ext cx="3842266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 правильным и безопасным тренировкам.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542" y="7021235"/>
            <a:ext cx="1225272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Присоединяйтесь к революции в спорте и здоровом образе жизни с помощью ИИ!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D490687-98FC-7F5D-DD60-162E99E26CF1}"/>
              </a:ext>
            </a:extLst>
          </p:cNvPr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0A8D0DF-F5C4-C463-D30D-25375F9E8176}"/>
              </a:ext>
            </a:extLst>
          </p:cNvPr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285</Words>
  <Application>Microsoft Office PowerPoint</Application>
  <PresentationFormat>Произвольный</PresentationFormat>
  <Paragraphs>47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Instrument Sans Semi Bold</vt:lpstr>
      <vt:lpstr>Calibri</vt:lpstr>
      <vt:lpstr>Arial</vt:lpstr>
      <vt:lpstr>Instrument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Студент Фрязино</dc:creator>
  <cp:lastModifiedBy>Студент Фрязино</cp:lastModifiedBy>
  <cp:revision>335</cp:revision>
  <dcterms:created xsi:type="dcterms:W3CDTF">2025-11-27T13:27:01Z</dcterms:created>
  <dcterms:modified xsi:type="dcterms:W3CDTF">2026-05-21T16:45:27Z</dcterms:modified>
</cp:coreProperties>
</file>