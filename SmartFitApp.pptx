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11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4" r:id="rId9"/>
    <p:sldId id="262" r:id="rId10"/>
  </p:sldIdLst>
  <p:sldSz cx="14630400" cy="8229600"/>
  <p:notesSz cx="8229600" cy="14630400"/>
  <p:embeddedFontLst>
    <p:embeddedFont>
      <p:font typeface="Instrument Sans Medium" panose="020B0604020202020204" charset="0"/>
      <p:regular r:id="rId12"/>
      <p:bold r:id="rId13"/>
      <p:italic r:id="rId14"/>
      <p:boldItalic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Instrument Sans SemiBold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8A9F250-2027-4071-98A1-494C9D982275}">
  <a:tblStyle styleId="{F8A9F250-2027-4071-98A1-494C9D98227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0" d="100"/>
          <a:sy n="130" d="100"/>
        </p:scale>
        <p:origin x="46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565525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660900" y="0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3896975"/>
            <a:ext cx="3565525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" name="Google Shape;43;p1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27913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" name="Google Shape;43;p1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2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2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2d61155f_0_0:notes"/>
          <p:cNvSpPr txBox="1">
            <a:spLocks noGrp="1"/>
          </p:cNvSpPr>
          <p:nvPr>
            <p:ph type="body" idx="1"/>
          </p:nvPr>
        </p:nvSpPr>
        <p:spPr>
          <a:xfrm>
            <a:off x="822952" y="6949422"/>
            <a:ext cx="6583500" cy="6583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3e52d61155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4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4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38686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p6:notes"/>
          <p:cNvSpPr txBox="1"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6:notes"/>
          <p:cNvSpPr txBox="1">
            <a:spLocks noGrp="1"/>
          </p:cNvSpPr>
          <p:nvPr>
            <p:ph type="sldNum" idx="12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3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4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5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" name="Google Shape;25;p5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6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" name="Google Shape;34;p8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 1">
  <p:cSld name="Slide 2 master_1">
    <p:bg>
      <p:bgPr>
        <a:solidFill>
          <a:srgbClr val="FFFFFF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9" descr="preencode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4630042" cy="8229239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9"/>
          <p:cNvSpPr/>
          <p:nvPr/>
        </p:nvSpPr>
        <p:spPr>
          <a:xfrm>
            <a:off x="0" y="0"/>
            <a:ext cx="14630100" cy="8229300"/>
          </a:xfrm>
          <a:prstGeom prst="rect">
            <a:avLst/>
          </a:prstGeom>
          <a:solidFill>
            <a:srgbClr val="2A2A2D">
              <a:alpha val="94900"/>
            </a:srgbClr>
          </a:solidFill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9" descr="preencoded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731520" y="328320"/>
            <a:ext cx="13167000" cy="13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1"/>
          </p:nvPr>
        </p:nvSpPr>
        <p:spPr>
          <a:xfrm>
            <a:off x="731520" y="1925640"/>
            <a:ext cx="13167000" cy="47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0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0"/>
          <p:cNvSpPr txBox="1"/>
          <p:nvPr/>
        </p:nvSpPr>
        <p:spPr>
          <a:xfrm>
            <a:off x="5143575" y="2000075"/>
            <a:ext cx="40494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SmartFit</a:t>
            </a:r>
            <a:endParaRPr sz="7200" dirty="0"/>
          </a:p>
        </p:txBody>
      </p:sp>
      <p:pic>
        <p:nvPicPr>
          <p:cNvPr id="64" name="Google Shape;64;p10" title="free-icon-biceps-661927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125" y="627925"/>
            <a:ext cx="2811000" cy="28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 title="free-icon-biceps-661927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0137425" y="627925"/>
            <a:ext cx="2811000" cy="28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0"/>
          <p:cNvSpPr txBox="1"/>
          <p:nvPr/>
        </p:nvSpPr>
        <p:spPr>
          <a:xfrm>
            <a:off x="4344375" y="292950"/>
            <a:ext cx="5647800" cy="127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Мобильное</a:t>
            </a:r>
            <a:r>
              <a:rPr lang="en-US" sz="315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315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приложение</a:t>
            </a:r>
            <a:r>
              <a:rPr lang="en-US" sz="315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с  </a:t>
            </a:r>
            <a:r>
              <a:rPr lang="en-US" sz="315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искусственным</a:t>
            </a:r>
            <a:r>
              <a:rPr lang="en-US" sz="315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315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интеллектом</a:t>
            </a:r>
            <a:endParaRPr sz="100" dirty="0"/>
          </a:p>
        </p:txBody>
      </p:sp>
      <p:sp>
        <p:nvSpPr>
          <p:cNvPr id="67" name="Google Shape;67;p10"/>
          <p:cNvSpPr txBox="1"/>
          <p:nvPr/>
        </p:nvSpPr>
        <p:spPr>
          <a:xfrm>
            <a:off x="3600300" y="3756400"/>
            <a:ext cx="7429800" cy="8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5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Ваш домашний тренер</a:t>
            </a:r>
            <a:endParaRPr/>
          </a:p>
        </p:txBody>
      </p:sp>
      <p:sp>
        <p:nvSpPr>
          <p:cNvPr id="28" name="Прямоугольник: скругленные углы 10"/>
          <p:cNvSpPr/>
          <p:nvPr/>
        </p:nvSpPr>
        <p:spPr bwMode="auto">
          <a:xfrm>
            <a:off x="898026" y="5172175"/>
            <a:ext cx="3138867" cy="2285049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 dirty="0" smtClean="0">
                <a:ln/>
                <a:solidFill>
                  <a:schemeClr val="bg2">
                    <a:lumMod val="10000"/>
                  </a:schemeClr>
                </a:solidFill>
              </a:rPr>
              <a:t>Автор</a:t>
            </a:r>
            <a:r>
              <a:rPr lang="en-US" sz="2400" b="1" dirty="0">
                <a:ln/>
                <a:solidFill>
                  <a:schemeClr val="bg2">
                    <a:lumMod val="10000"/>
                  </a:schemeClr>
                </a:solidFill>
              </a:rPr>
              <a:t>:</a:t>
            </a:r>
            <a:r>
              <a:rPr lang="ru-RU" sz="2400" b="1" dirty="0" smtClean="0">
                <a:ln/>
                <a:solidFill>
                  <a:schemeClr val="bg2">
                    <a:lumMod val="10000"/>
                  </a:schemeClr>
                </a:solidFill>
              </a:rPr>
              <a:t>                   </a:t>
            </a:r>
            <a:endParaRPr lang="ru-RU" sz="2400" dirty="0"/>
          </a:p>
          <a:p>
            <a:pPr algn="ctr">
              <a:defRPr/>
            </a:pPr>
            <a:r>
              <a:rPr lang="ru-RU" sz="2400" b="1" dirty="0">
                <a:ln/>
                <a:solidFill>
                  <a:schemeClr val="bg2">
                    <a:lumMod val="10000"/>
                  </a:schemeClr>
                </a:solidFill>
              </a:rPr>
              <a:t>Орлов Евгений 9 класс</a:t>
            </a:r>
            <a:endParaRPr lang="ru-RU" sz="24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5053352" y="5714534"/>
            <a:ext cx="42298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600" dirty="0">
                <a:solidFill>
                  <a:schemeClr val="bg1">
                    <a:lumMod val="85000"/>
                  </a:schemeClr>
                </a:solidFill>
              </a:rPr>
              <a:t>Технопарк </a:t>
            </a:r>
            <a:r>
              <a:rPr lang="en-US" sz="3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sz="3600" dirty="0" smtClean="0">
                <a:solidFill>
                  <a:schemeClr val="bg1">
                    <a:lumMod val="85000"/>
                  </a:schemeClr>
                </a:solidFill>
              </a:rPr>
              <a:t>  </a:t>
            </a:r>
            <a:r>
              <a:rPr lang="ru-RU" sz="3600" dirty="0" smtClean="0">
                <a:solidFill>
                  <a:schemeClr val="bg1">
                    <a:lumMod val="85000"/>
                  </a:schemeClr>
                </a:solidFill>
              </a:rPr>
              <a:t>Фрязино</a:t>
            </a:r>
            <a:endParaRPr lang="ru-RU" sz="3600" dirty="0"/>
          </a:p>
        </p:txBody>
      </p:sp>
      <p:cxnSp>
        <p:nvCxnSpPr>
          <p:cNvPr id="30" name="Прямая соединительная линия 17"/>
          <p:cNvCxnSpPr>
            <a:cxnSpLocks/>
          </p:cNvCxnSpPr>
          <p:nvPr/>
        </p:nvCxnSpPr>
        <p:spPr bwMode="auto">
          <a:xfrm>
            <a:off x="5061464" y="5600632"/>
            <a:ext cx="413951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единительная линия 17"/>
          <p:cNvCxnSpPr>
            <a:cxnSpLocks/>
          </p:cNvCxnSpPr>
          <p:nvPr/>
        </p:nvCxnSpPr>
        <p:spPr bwMode="auto">
          <a:xfrm>
            <a:off x="5154872" y="7139383"/>
            <a:ext cx="413951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Прямоугольник: скругленные углы 10"/>
          <p:cNvSpPr/>
          <p:nvPr/>
        </p:nvSpPr>
        <p:spPr bwMode="auto">
          <a:xfrm>
            <a:off x="10225549" y="5172173"/>
            <a:ext cx="3138867" cy="2285049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 dirty="0" smtClean="0">
                <a:ln/>
                <a:solidFill>
                  <a:schemeClr val="bg2">
                    <a:lumMod val="10000"/>
                  </a:schemeClr>
                </a:solidFill>
              </a:rPr>
              <a:t>Наставник</a:t>
            </a:r>
            <a:r>
              <a:rPr lang="en-US" sz="2400" b="1" dirty="0" smtClean="0">
                <a:ln/>
                <a:solidFill>
                  <a:schemeClr val="bg2">
                    <a:lumMod val="10000"/>
                  </a:schemeClr>
                </a:solidFill>
              </a:rPr>
              <a:t>:</a:t>
            </a:r>
          </a:p>
          <a:p>
            <a:pPr algn="ctr">
              <a:defRPr/>
            </a:pPr>
            <a:r>
              <a:rPr lang="ru-RU" sz="2400" b="1" dirty="0" smtClean="0">
                <a:ln/>
                <a:solidFill>
                  <a:schemeClr val="bg2">
                    <a:lumMod val="10000"/>
                  </a:schemeClr>
                </a:solidFill>
              </a:rPr>
              <a:t>Анна </a:t>
            </a:r>
            <a:r>
              <a:rPr lang="ru-RU" sz="2400" b="1" dirty="0" err="1" smtClean="0">
                <a:ln/>
                <a:solidFill>
                  <a:schemeClr val="bg2">
                    <a:lumMod val="10000"/>
                  </a:schemeClr>
                </a:solidFill>
              </a:rPr>
              <a:t>Вальеревна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53707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46;p10"/>
          <p:cNvSpPr/>
          <p:nvPr/>
        </p:nvSpPr>
        <p:spPr>
          <a:xfrm>
            <a:off x="5216609" y="4953302"/>
            <a:ext cx="3194825" cy="235218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46;p10"/>
          <p:cNvSpPr/>
          <p:nvPr/>
        </p:nvSpPr>
        <p:spPr>
          <a:xfrm>
            <a:off x="7745803" y="1716260"/>
            <a:ext cx="3194825" cy="235218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0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0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0"/>
          <p:cNvSpPr/>
          <p:nvPr/>
        </p:nvSpPr>
        <p:spPr>
          <a:xfrm>
            <a:off x="10400362" y="4953302"/>
            <a:ext cx="3194825" cy="235218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" name="Google Shape;47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34876" y="1812561"/>
            <a:ext cx="680442" cy="680442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0"/>
          <p:cNvSpPr/>
          <p:nvPr/>
        </p:nvSpPr>
        <p:spPr>
          <a:xfrm>
            <a:off x="7924374" y="2512521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Визуальный</a:t>
            </a:r>
            <a:r>
              <a:rPr lang="en-US" sz="2200" b="0" i="0" u="none" strike="noStrike" cap="none" dirty="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Анализ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0"/>
          <p:cNvSpPr/>
          <p:nvPr/>
        </p:nvSpPr>
        <p:spPr>
          <a:xfrm>
            <a:off x="8017459" y="3072904"/>
            <a:ext cx="2889360" cy="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Камера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фиксирует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ваши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движения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.</a:t>
            </a:r>
            <a:endParaRPr sz="17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" name="Google Shape;52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88982" y="5055616"/>
            <a:ext cx="680442" cy="6804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0"/>
          <p:cNvSpPr/>
          <p:nvPr/>
        </p:nvSpPr>
        <p:spPr>
          <a:xfrm>
            <a:off x="5576134" y="5775095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lang="en-US" sz="2200" b="0" i="0" u="none" strike="noStrike" cap="none" dirty="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ИИ-</a:t>
            </a: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Аналитика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0"/>
          <p:cNvSpPr/>
          <p:nvPr/>
        </p:nvSpPr>
        <p:spPr>
          <a:xfrm>
            <a:off x="5459171" y="6236457"/>
            <a:ext cx="3727500" cy="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Искусственный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интеллект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оценивает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технику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.</a:t>
            </a:r>
            <a:endParaRPr sz="17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Google Shape;57;p1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66598" y="5094653"/>
            <a:ext cx="680442" cy="68044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0"/>
          <p:cNvSpPr/>
          <p:nvPr/>
        </p:nvSpPr>
        <p:spPr>
          <a:xfrm>
            <a:off x="10651607" y="5832962"/>
            <a:ext cx="31434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Персональный</a:t>
            </a:r>
            <a:r>
              <a:rPr lang="en-US" sz="2200" b="0" i="0" u="none" strike="noStrike" cap="none" dirty="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Тренер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0"/>
          <p:cNvSpPr/>
          <p:nvPr/>
        </p:nvSpPr>
        <p:spPr>
          <a:xfrm>
            <a:off x="10732995" y="6280602"/>
            <a:ext cx="3062012" cy="681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Подсказки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в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реальном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времени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.</a:t>
            </a:r>
            <a:endParaRPr sz="17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592" y="744444"/>
            <a:ext cx="3130780" cy="6783357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732016" y="61834"/>
            <a:ext cx="722001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24719"/>
              </a:lnSpc>
            </a:pPr>
            <a:r>
              <a:rPr lang="ru-RU" sz="32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Мобильное приложение с  искусственным интеллектом</a:t>
            </a:r>
            <a:endParaRPr lang="ru-RU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793790" y="845225"/>
            <a:ext cx="13042821" cy="1417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4450"/>
              <a:buFont typeface="Instrument Sans SemiBold"/>
              <a:buNone/>
            </a:pPr>
            <a:r>
              <a:rPr lang="en-US" sz="4450" b="0" i="0" u="none" strike="noStrike" cap="none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Актуальность проекта: Революция домашних тренировок</a:t>
            </a:r>
            <a:endParaRPr sz="4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1"/>
          <p:cNvSpPr/>
          <p:nvPr/>
        </p:nvSpPr>
        <p:spPr>
          <a:xfrm>
            <a:off x="793790" y="2602944"/>
            <a:ext cx="13042821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В современном мире, где время становится всё более ценным ресурсом, домашние тренировки набирают популярность. Однако отсутствие квалифицированного контроля часто приводит к неэффективным занятиям и даже травмам.</a:t>
            </a:r>
            <a:endParaRPr sz="1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1"/>
          <p:cNvSpPr/>
          <p:nvPr/>
        </p:nvSpPr>
        <p:spPr>
          <a:xfrm>
            <a:off x="793790" y="394680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4901"/>
            </a:srgbClr>
          </a:solidFill>
          <a:ln w="3047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6" name="Google Shape;76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3310" y="3946803"/>
            <a:ext cx="121920" cy="2456617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1"/>
          <p:cNvSpPr/>
          <p:nvPr/>
        </p:nvSpPr>
        <p:spPr>
          <a:xfrm>
            <a:off x="1142524" y="4204097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lang="en-US" sz="2200" b="0" i="0" u="none" strike="noStrike" cap="non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Домашний Фитнес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1"/>
          <p:cNvSpPr/>
          <p:nvPr/>
        </p:nvSpPr>
        <p:spPr>
          <a:xfrm>
            <a:off x="1142524" y="4694515"/>
            <a:ext cx="3590330" cy="108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Растущий тренд, требующий адекватной поддержки и контроля.</a:t>
            </a:r>
            <a:endParaRPr sz="1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1"/>
          <p:cNvSpPr/>
          <p:nvPr/>
        </p:nvSpPr>
        <p:spPr>
          <a:xfrm>
            <a:off x="5216962" y="394680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4901"/>
            </a:srgbClr>
          </a:solidFill>
          <a:ln w="3047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0" name="Google Shape;8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86482" y="3946803"/>
            <a:ext cx="121920" cy="245661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1"/>
          <p:cNvSpPr/>
          <p:nvPr/>
        </p:nvSpPr>
        <p:spPr>
          <a:xfrm>
            <a:off x="5565696" y="4204097"/>
            <a:ext cx="3380065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Отсутствие</a:t>
            </a:r>
            <a:r>
              <a:rPr lang="en-US" sz="2200" b="0" i="0" u="none" strike="noStrike" cap="none" dirty="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2200" b="0" i="0" u="none" strike="noStrike" cap="none" dirty="0" err="1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Конкурентов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1"/>
          <p:cNvSpPr/>
          <p:nvPr/>
        </p:nvSpPr>
        <p:spPr>
          <a:xfrm>
            <a:off x="5565696" y="4694515"/>
            <a:ext cx="3590330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На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рынке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отсутствуют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аналоги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,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предлагающие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комплексный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анализ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техники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выполнения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</a:t>
            </a:r>
            <a:r>
              <a:rPr lang="en-US" sz="1750" b="0" i="0" u="none" strike="noStrike" cap="none" dirty="0" err="1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упражнений</a:t>
            </a:r>
            <a:r>
              <a:rPr lang="en-US" sz="1750" b="0" i="0" u="none" strike="noStrike" cap="none" dirty="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.</a:t>
            </a:r>
            <a:endParaRPr sz="17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1"/>
          <p:cNvSpPr/>
          <p:nvPr/>
        </p:nvSpPr>
        <p:spPr>
          <a:xfrm>
            <a:off x="9640133" y="394680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4901"/>
            </a:srgbClr>
          </a:solidFill>
          <a:ln w="3047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4" name="Google Shape;84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09653" y="3946803"/>
            <a:ext cx="121920" cy="245661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1"/>
          <p:cNvSpPr/>
          <p:nvPr/>
        </p:nvSpPr>
        <p:spPr>
          <a:xfrm>
            <a:off x="9988868" y="4204097"/>
            <a:ext cx="3163848" cy="35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lang="en-US" sz="2200" b="0" i="0" u="none" strike="noStrike" cap="non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Удобство для Пожилых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1"/>
          <p:cNvSpPr/>
          <p:nvPr/>
        </p:nvSpPr>
        <p:spPr>
          <a:xfrm>
            <a:off x="9988868" y="4694515"/>
            <a:ext cx="3590330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lang="en-US" sz="175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Идеальное решение для тех, кто предпочитает комфорт и уединение домашней обстановки.</a:t>
            </a:r>
            <a:endParaRPr sz="1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2"/>
          <p:cNvSpPr/>
          <p:nvPr/>
        </p:nvSpPr>
        <p:spPr>
          <a:xfrm>
            <a:off x="6076831" y="945475"/>
            <a:ext cx="7963138" cy="1581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3300"/>
              <a:buFont typeface="Instrument Sans SemiBold"/>
              <a:buNone/>
            </a:pPr>
            <a:r>
              <a:rPr lang="en-US" sz="3300" b="0" i="0" u="none" strike="noStrike" cap="none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Проблемы, которые мы решаем: путь к безопасным и эффективным тренировкам</a:t>
            </a:r>
            <a:endParaRPr sz="3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2"/>
          <p:cNvSpPr/>
          <p:nvPr/>
        </p:nvSpPr>
        <p:spPr>
          <a:xfrm>
            <a:off x="5991094" y="2931928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6830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  <a:buFont typeface="Instrument Sans Medium"/>
              <a:buChar char="•"/>
            </a:pPr>
            <a:r>
              <a:rPr lang="en-US" sz="170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Риску травм из-за неправильной постановки тела и движений.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2"/>
          <p:cNvSpPr/>
          <p:nvPr/>
        </p:nvSpPr>
        <p:spPr>
          <a:xfrm>
            <a:off x="6076831" y="4019906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6830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  <a:buFont typeface="Instrument Sans Medium"/>
              <a:buChar char="•"/>
            </a:pPr>
            <a:r>
              <a:rPr lang="en-US" sz="170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Низкой эффективности тренировок без понимания ошибок.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2"/>
          <p:cNvSpPr/>
          <p:nvPr/>
        </p:nvSpPr>
        <p:spPr>
          <a:xfrm>
            <a:off x="6076906" y="5107883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6830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  <a:buFont typeface="Instrument Sans Medium"/>
              <a:buChar char="•"/>
            </a:pPr>
            <a:r>
              <a:rPr lang="en-US" sz="170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Недостаточной мотивации из-за отсутствия видимого прогресса.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2"/>
          <p:cNvSpPr/>
          <p:nvPr/>
        </p:nvSpPr>
        <p:spPr>
          <a:xfrm>
            <a:off x="5991106" y="6195842"/>
            <a:ext cx="4194600" cy="10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300"/>
              <a:buFont typeface="Instrument Sans Medium"/>
              <a:buNone/>
            </a:pPr>
            <a:r>
              <a:rPr lang="en-US" sz="1300" b="0" i="0" u="none" strike="noStrike" cap="non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Кроме того, высокая стоимость персональных тренеров делает их недоступными для многих, а существующие фитнес-приложения не предлагают функционала по анализу техники.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2"/>
          <p:cNvSpPr/>
          <p:nvPr/>
        </p:nvSpPr>
        <p:spPr>
          <a:xfrm>
            <a:off x="10690384" y="2931914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10690384" y="3353633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10690384" y="3775353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1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25332" y="4235053"/>
            <a:ext cx="2287072" cy="2287072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2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2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0" name="Google Shape;110;p13"/>
          <p:cNvGraphicFramePr/>
          <p:nvPr/>
        </p:nvGraphicFramePr>
        <p:xfrm>
          <a:off x="1609920" y="1106280"/>
          <a:ext cx="11647425" cy="5759650"/>
        </p:xfrm>
        <a:graphic>
          <a:graphicData uri="http://schemas.openxmlformats.org/drawingml/2006/table">
            <a:tbl>
              <a:tblPr>
                <a:noFill/>
                <a:tableStyleId>{F8A9F250-2027-4071-98A1-494C9D982275}</a:tableStyleId>
              </a:tblPr>
              <a:tblGrid>
                <a:gridCol w="2689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2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4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75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Критерии:</a:t>
                      </a:r>
                      <a:endParaRPr sz="20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b="1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Наличие подписок</a:t>
                      </a:r>
                      <a:endParaRPr sz="21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 b="1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Контроль техники</a:t>
                      </a:r>
                      <a:endParaRPr sz="22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Возможность заниматься дома</a:t>
                      </a:r>
                      <a:endParaRPr sz="20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Контроль питания</a:t>
                      </a:r>
                      <a:endParaRPr sz="20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9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Фитнесс приложения</a:t>
                      </a:r>
                      <a:endParaRPr sz="22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9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Тренер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5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Наше </a:t>
                      </a:r>
                      <a:r>
                        <a:rPr lang="en-US" sz="21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приложение</a:t>
                      </a:r>
                      <a:endParaRPr sz="21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sz="2400" b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2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11" name="Google Shape;111;p13"/>
          <p:cNvCxnSpPr/>
          <p:nvPr/>
        </p:nvCxnSpPr>
        <p:spPr>
          <a:xfrm>
            <a:off x="1152000" y="720000"/>
            <a:ext cx="12456000" cy="0"/>
          </a:xfrm>
          <a:prstGeom prst="straightConnector1">
            <a:avLst/>
          </a:prstGeom>
          <a:noFill/>
          <a:ln w="29150" cap="flat" cmpd="sng">
            <a:solidFill>
              <a:srgbClr val="3465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2" name="Google Shape;112;p13"/>
          <p:cNvCxnSpPr/>
          <p:nvPr/>
        </p:nvCxnSpPr>
        <p:spPr>
          <a:xfrm>
            <a:off x="1152000" y="720000"/>
            <a:ext cx="12456000" cy="0"/>
          </a:xfrm>
          <a:prstGeom prst="straightConnector1">
            <a:avLst/>
          </a:prstGeom>
          <a:noFill/>
          <a:ln w="291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3" name="Google Shape;113;p13"/>
          <p:cNvCxnSpPr/>
          <p:nvPr/>
        </p:nvCxnSpPr>
        <p:spPr>
          <a:xfrm>
            <a:off x="1116000" y="7380000"/>
            <a:ext cx="12456000" cy="0"/>
          </a:xfrm>
          <a:prstGeom prst="straightConnector1">
            <a:avLst/>
          </a:prstGeom>
          <a:noFill/>
          <a:ln w="291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4" name="Google Shape;114;p13"/>
          <p:cNvSpPr/>
          <p:nvPr/>
        </p:nvSpPr>
        <p:spPr>
          <a:xfrm>
            <a:off x="12569760" y="7636680"/>
            <a:ext cx="2050800" cy="592800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 txBox="1"/>
          <p:nvPr/>
        </p:nvSpPr>
        <p:spPr>
          <a:xfrm>
            <a:off x="5760000" y="0"/>
            <a:ext cx="37800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Конкуренты</a:t>
            </a:r>
            <a:endParaRPr sz="4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4"/>
          <p:cNvSpPr/>
          <p:nvPr/>
        </p:nvSpPr>
        <p:spPr>
          <a:xfrm>
            <a:off x="2841744" y="480756"/>
            <a:ext cx="5803106" cy="1417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50"/>
              <a:buFont typeface="Calibri"/>
              <a:buNone/>
            </a:pPr>
            <a:endParaRPr sz="4450" b="0" i="0" u="none" strike="noStrike" cap="none">
              <a:solidFill>
                <a:srgbClr val="CBCCCE"/>
              </a:solidFill>
              <a:latin typeface="Instrument Sans SemiBold"/>
              <a:ea typeface="Instrument Sans SemiBold"/>
              <a:cs typeface="Instrument Sans SemiBold"/>
              <a:sym typeface="Instrument Sans SemiBold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793790" y="3054668"/>
            <a:ext cx="3564584" cy="1005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50" b="0" i="0" u="none" strike="noStrike" cap="none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8654153" y="2972372"/>
            <a:ext cx="5199102" cy="362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17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endParaRPr sz="2800" b="0" i="0" u="none" strike="noStrike" cap="none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24" name="Google Shape;124;p14"/>
          <p:cNvSpPr/>
          <p:nvPr/>
        </p:nvSpPr>
        <p:spPr>
          <a:xfrm>
            <a:off x="8645009" y="3583858"/>
            <a:ext cx="5191545" cy="214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17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endParaRPr sz="2800" b="0" i="0" u="none" strike="noStrike" cap="none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648883" y="608850"/>
            <a:ext cx="7219138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Программная часть проекта 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2005911" y="1763464"/>
            <a:ext cx="2545493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Java</a:t>
            </a:r>
            <a:endParaRPr sz="4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14" descr="Изображение выглядит как круг, шаблон, Симметрия, дизайн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5859" y="4839388"/>
            <a:ext cx="934880" cy="89393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 txBox="1"/>
          <p:nvPr/>
        </p:nvSpPr>
        <p:spPr>
          <a:xfrm>
            <a:off x="1997677" y="4934464"/>
            <a:ext cx="2553727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MediaPipe</a:t>
            </a:r>
            <a:endParaRPr sz="4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2113005" y="6339015"/>
            <a:ext cx="2360140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endParaRPr sz="4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4"/>
          <p:cNvSpPr/>
          <p:nvPr/>
        </p:nvSpPr>
        <p:spPr>
          <a:xfrm>
            <a:off x="7318158" y="2054523"/>
            <a:ext cx="1667343" cy="104363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/>
          <p:nvPr/>
        </p:nvSpPr>
        <p:spPr>
          <a:xfrm>
            <a:off x="8785052" y="3723901"/>
            <a:ext cx="5191545" cy="214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17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endParaRPr sz="2800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10415585" y="2017946"/>
            <a:ext cx="1667343" cy="104363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7318158" y="3940988"/>
            <a:ext cx="1667343" cy="104363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4"/>
          <p:cNvSpPr/>
          <p:nvPr/>
        </p:nvSpPr>
        <p:spPr>
          <a:xfrm>
            <a:off x="10415585" y="3940987"/>
            <a:ext cx="1667343" cy="104363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4"/>
          <p:cNvSpPr/>
          <p:nvPr/>
        </p:nvSpPr>
        <p:spPr>
          <a:xfrm>
            <a:off x="7318158" y="5819216"/>
            <a:ext cx="1667343" cy="104363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>
            <a:off x="10407347" y="5819215"/>
            <a:ext cx="1667343" cy="1043636"/>
          </a:xfrm>
          <a:prstGeom prst="roundRect">
            <a:avLst>
              <a:gd name="adj" fmla="val 3675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8" name="Google Shape;138;p1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47995" y="2179442"/>
            <a:ext cx="816855" cy="79214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4"/>
          <p:cNvSpPr txBox="1"/>
          <p:nvPr/>
        </p:nvSpPr>
        <p:spPr>
          <a:xfrm>
            <a:off x="7414054" y="3113902"/>
            <a:ext cx="1569308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Камера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14" descr="Изображение выглядит как круг, шаблон, Симметрия, дизайн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803522" y="2179442"/>
            <a:ext cx="843440" cy="72934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4"/>
          <p:cNvSpPr txBox="1"/>
          <p:nvPr/>
        </p:nvSpPr>
        <p:spPr>
          <a:xfrm>
            <a:off x="10420019" y="3113902"/>
            <a:ext cx="175616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MediaPipe</a:t>
            </a:r>
            <a:endParaRPr sz="2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4"/>
          <p:cNvSpPr txBox="1"/>
          <p:nvPr/>
        </p:nvSpPr>
        <p:spPr>
          <a:xfrm>
            <a:off x="7038335" y="5078834"/>
            <a:ext cx="2238797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Android</a:t>
            </a:r>
            <a:r>
              <a:rPr lang="ru-RU" sz="20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ru-RU" sz="20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ru-RU" sz="20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приложение</a:t>
            </a:r>
            <a:endParaRPr sz="20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4"/>
          <p:cNvSpPr txBox="1"/>
          <p:nvPr/>
        </p:nvSpPr>
        <p:spPr>
          <a:xfrm>
            <a:off x="7296525" y="6918703"/>
            <a:ext cx="1957455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Хранение данных</a:t>
            </a:r>
            <a:endParaRPr sz="2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4"/>
          <p:cNvSpPr txBox="1"/>
          <p:nvPr/>
        </p:nvSpPr>
        <p:spPr>
          <a:xfrm>
            <a:off x="8837327" y="605890"/>
            <a:ext cx="1768548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Схема</a:t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4"/>
          <p:cNvSpPr/>
          <p:nvPr/>
        </p:nvSpPr>
        <p:spPr>
          <a:xfrm>
            <a:off x="9131643" y="2323070"/>
            <a:ext cx="1087394" cy="59312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4"/>
          <p:cNvSpPr/>
          <p:nvPr/>
        </p:nvSpPr>
        <p:spPr>
          <a:xfrm>
            <a:off x="12220832" y="2471350"/>
            <a:ext cx="1013254" cy="2372497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4"/>
          <p:cNvSpPr/>
          <p:nvPr/>
        </p:nvSpPr>
        <p:spPr>
          <a:xfrm>
            <a:off x="9067715" y="4193740"/>
            <a:ext cx="1207080" cy="606195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14" descr="Изображение выглядит как черный, темнота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18030" y="5904908"/>
            <a:ext cx="828932" cy="83717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4"/>
          <p:cNvSpPr/>
          <p:nvPr/>
        </p:nvSpPr>
        <p:spPr>
          <a:xfrm>
            <a:off x="6067167" y="4423718"/>
            <a:ext cx="1050324" cy="2211859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4"/>
          <p:cNvSpPr txBox="1"/>
          <p:nvPr/>
        </p:nvSpPr>
        <p:spPr>
          <a:xfrm>
            <a:off x="10025448" y="7043350"/>
            <a:ext cx="270613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Обратная связь</a:t>
            </a:r>
            <a:endParaRPr/>
          </a:p>
        </p:txBody>
      </p:sp>
      <p:sp>
        <p:nvSpPr>
          <p:cNvPr id="151" name="Google Shape;151;p14"/>
          <p:cNvSpPr/>
          <p:nvPr/>
        </p:nvSpPr>
        <p:spPr>
          <a:xfrm>
            <a:off x="9115167" y="6038334"/>
            <a:ext cx="1153297" cy="613719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4"/>
          <p:cNvSpPr/>
          <p:nvPr/>
        </p:nvSpPr>
        <p:spPr>
          <a:xfrm>
            <a:off x="12721977" y="77888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30980" y="1378291"/>
            <a:ext cx="819759" cy="15050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4848" y="3180549"/>
            <a:ext cx="2463089" cy="1167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4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37496" y="6150311"/>
            <a:ext cx="1006726" cy="1006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4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70691" y="4036283"/>
            <a:ext cx="889948" cy="88994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4"/>
          <p:cNvSpPr/>
          <p:nvPr/>
        </p:nvSpPr>
        <p:spPr>
          <a:xfrm>
            <a:off x="10537653" y="5067082"/>
            <a:ext cx="14193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14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885904" y="3985961"/>
            <a:ext cx="476859" cy="875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4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449029" y="6005377"/>
            <a:ext cx="1405599" cy="666254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142;p14"/>
          <p:cNvSpPr txBox="1"/>
          <p:nvPr/>
        </p:nvSpPr>
        <p:spPr>
          <a:xfrm>
            <a:off x="9199437" y="4366052"/>
            <a:ext cx="162232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Android Bridge</a:t>
            </a:r>
            <a:endParaRPr sz="11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Google Shape;166;p15"/>
          <p:cNvCxnSpPr>
            <a:endCxn id="167" idx="1"/>
          </p:cNvCxnSpPr>
          <p:nvPr/>
        </p:nvCxnSpPr>
        <p:spPr>
          <a:xfrm rot="-5400000">
            <a:off x="3806868" y="2601868"/>
            <a:ext cx="2879700" cy="1157100"/>
          </a:xfrm>
          <a:prstGeom prst="curvedConnector2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68" name="Google Shape;168;p15"/>
          <p:cNvCxnSpPr>
            <a:stCxn id="167" idx="1"/>
          </p:cNvCxnSpPr>
          <p:nvPr/>
        </p:nvCxnSpPr>
        <p:spPr>
          <a:xfrm flipH="1">
            <a:off x="1868868" y="1740568"/>
            <a:ext cx="3956400" cy="4748400"/>
          </a:xfrm>
          <a:prstGeom prst="curvedConnector2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9" name="Google Shape;169;p15"/>
          <p:cNvSpPr/>
          <p:nvPr/>
        </p:nvSpPr>
        <p:spPr>
          <a:xfrm>
            <a:off x="12579179" y="7652518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25268" y="754593"/>
            <a:ext cx="7487695" cy="197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4683" y="4434066"/>
            <a:ext cx="5545906" cy="29843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1" name="Google Shape;171;p15"/>
          <p:cNvCxnSpPr/>
          <p:nvPr/>
        </p:nvCxnSpPr>
        <p:spPr>
          <a:xfrm>
            <a:off x="8213558" y="2890764"/>
            <a:ext cx="2590800" cy="1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2" name="Google Shape;172;p15"/>
          <p:cNvCxnSpPr/>
          <p:nvPr/>
        </p:nvCxnSpPr>
        <p:spPr>
          <a:xfrm flipH="1">
            <a:off x="6720297" y="4924789"/>
            <a:ext cx="18102" cy="2002923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3" name="Google Shape;173;p15"/>
          <p:cNvCxnSpPr/>
          <p:nvPr/>
        </p:nvCxnSpPr>
        <p:spPr>
          <a:xfrm>
            <a:off x="8213558" y="581315"/>
            <a:ext cx="2590800" cy="1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4" name="Google Shape;174;p15"/>
          <p:cNvCxnSpPr/>
          <p:nvPr/>
        </p:nvCxnSpPr>
        <p:spPr>
          <a:xfrm flipH="1">
            <a:off x="356873" y="4924788"/>
            <a:ext cx="18102" cy="2002923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75" name="Google Shape;175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13558" y="3778483"/>
            <a:ext cx="3519897" cy="351989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6" name="Google Shape;176;p15"/>
          <p:cNvCxnSpPr>
            <a:stCxn id="167" idx="1"/>
            <a:endCxn id="170" idx="0"/>
          </p:cNvCxnSpPr>
          <p:nvPr/>
        </p:nvCxnSpPr>
        <p:spPr>
          <a:xfrm flipH="1">
            <a:off x="3547668" y="1740568"/>
            <a:ext cx="2277600" cy="2693400"/>
          </a:xfrm>
          <a:prstGeom prst="curvedConnector2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2"/>
          <p:cNvSpPr/>
          <p:nvPr/>
        </p:nvSpPr>
        <p:spPr>
          <a:xfrm>
            <a:off x="3919033" y="196537"/>
            <a:ext cx="6168864" cy="1296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3300"/>
              <a:buFont typeface="Instrument Sans SemiBold"/>
              <a:buNone/>
            </a:pPr>
            <a:r>
              <a:rPr lang="ru-RU" sz="5400" b="0" i="0" u="none" strike="noStrike" cap="none" dirty="0" smtClean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Развитие проекта </a:t>
            </a:r>
            <a:endParaRPr sz="5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2"/>
          <p:cNvSpPr/>
          <p:nvPr/>
        </p:nvSpPr>
        <p:spPr>
          <a:xfrm>
            <a:off x="782160" y="3031564"/>
            <a:ext cx="4194600" cy="1295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Недостаточное количество упражнений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2"/>
          <p:cNvSpPr/>
          <p:nvPr/>
        </p:nvSpPr>
        <p:spPr>
          <a:xfrm>
            <a:off x="782160" y="4171603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61538"/>
              </a:lnSpc>
              <a:buClr>
                <a:srgbClr val="CFD0D8"/>
              </a:buClr>
              <a:buSzPts val="1700"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Отсутствие калибровки</a:t>
            </a:r>
            <a:endParaRPr lang="ru-RU" sz="2800" b="1" dirty="0"/>
          </a:p>
        </p:txBody>
      </p:sp>
      <p:sp>
        <p:nvSpPr>
          <p:cNvPr id="98" name="Google Shape;98;p12"/>
          <p:cNvSpPr/>
          <p:nvPr/>
        </p:nvSpPr>
        <p:spPr>
          <a:xfrm>
            <a:off x="782160" y="5259359"/>
            <a:ext cx="4194600" cy="1481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Отсутствие примера правильной техники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2"/>
          <p:cNvSpPr/>
          <p:nvPr/>
        </p:nvSpPr>
        <p:spPr>
          <a:xfrm>
            <a:off x="782160" y="6556775"/>
            <a:ext cx="4194600" cy="10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300"/>
              <a:buFont typeface="Instrument Sans Medium"/>
              <a:buNone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Погрешность при анализе техники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2"/>
          <p:cNvSpPr/>
          <p:nvPr/>
        </p:nvSpPr>
        <p:spPr>
          <a:xfrm>
            <a:off x="10690384" y="2931914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10690384" y="3353633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10690384" y="3775353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2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2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266071" y="1631599"/>
            <a:ext cx="6672019" cy="9756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61538"/>
              </a:lnSpc>
              <a:buClr>
                <a:srgbClr val="CFD0D8"/>
              </a:buClr>
              <a:buSzPts val="1700"/>
            </a:pPr>
            <a:r>
              <a:rPr lang="ru-RU" sz="4000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Также планируется добавить</a:t>
            </a:r>
            <a:r>
              <a:rPr lang="en-US" sz="4000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lang="ru-RU" sz="4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843996" y="3423507"/>
            <a:ext cx="2961067" cy="7106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61538"/>
              </a:lnSpc>
              <a:buClr>
                <a:srgbClr val="CFD0D8"/>
              </a:buClr>
              <a:buSzPts val="1700"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Контроль питания</a:t>
            </a:r>
            <a:endParaRPr lang="ru-RU"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805524" y="4537914"/>
            <a:ext cx="7324441" cy="7106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61538"/>
              </a:lnSpc>
              <a:buClr>
                <a:srgbClr val="CFD0D8"/>
              </a:buClr>
              <a:buSzPts val="1700"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Возможность создавать свой план тренировок</a:t>
            </a:r>
            <a:endParaRPr lang="ru-RU"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1193365" y="1554583"/>
            <a:ext cx="2908168" cy="10640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61538"/>
              </a:lnSpc>
              <a:buClr>
                <a:srgbClr val="CFD0D8"/>
              </a:buClr>
              <a:buSzPts val="1700"/>
            </a:pPr>
            <a:r>
              <a:rPr lang="ru-RU" sz="44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Проблемы</a:t>
            </a:r>
            <a:r>
              <a:rPr lang="en-US" sz="44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:</a:t>
            </a:r>
            <a:endParaRPr lang="ru-RU"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5843996" y="5843136"/>
            <a:ext cx="7285969" cy="7106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61538"/>
              </a:lnSpc>
              <a:buClr>
                <a:srgbClr val="CFD0D8"/>
              </a:buClr>
              <a:buSzPts val="1700"/>
            </a:pPr>
            <a:r>
              <a:rPr lang="ru-RU" sz="2800" dirty="0" smtClean="0">
                <a:solidFill>
                  <a:srgbClr val="CFD0D8"/>
                </a:solidFill>
                <a:latin typeface="Calibri"/>
                <a:ea typeface="Calibri"/>
                <a:cs typeface="Calibri"/>
                <a:sym typeface="Instrument Sans Medium"/>
              </a:rPr>
              <a:t>Возможность отслеживания своего прогресса </a:t>
            </a:r>
            <a:endParaRPr lang="ru-RU"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19238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4630400" cy="254865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/>
          <p:nvPr/>
        </p:nvSpPr>
        <p:spPr>
          <a:xfrm>
            <a:off x="713542" y="3374588"/>
            <a:ext cx="11916966" cy="637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4000"/>
              <a:buFont typeface="Instrument Sans SemiBold"/>
              <a:buNone/>
            </a:pPr>
            <a:r>
              <a:rPr lang="en-US" sz="400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Будущее тренировок: Инновации и доступность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713542" y="4317444"/>
            <a:ext cx="13203317" cy="652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Мобильное приложение с ИИ — это полноценный инструмент для достижения ваших фитнес-целей. Оно сочетает в себе профессиональный контроль, доступность и удобство, открывая новую эру в домашнем фитнесе.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/>
          <p:nvPr/>
        </p:nvSpPr>
        <p:spPr>
          <a:xfrm>
            <a:off x="713542" y="5199221"/>
            <a:ext cx="4265176" cy="1516261"/>
          </a:xfrm>
          <a:prstGeom prst="roundRect">
            <a:avLst>
              <a:gd name="adj" fmla="val 32274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924997" y="5410676"/>
            <a:ext cx="2548652" cy="318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000"/>
              <a:buFont typeface="Instrument Sans SemiBold"/>
              <a:buNone/>
            </a:pPr>
            <a:r>
              <a:rPr lang="en-US" sz="200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Новый уровень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/>
          <p:nvPr/>
        </p:nvSpPr>
        <p:spPr>
          <a:xfrm>
            <a:off x="924997" y="5851565"/>
            <a:ext cx="3842266" cy="652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Профессиональный контроль у вас дома.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6"/>
          <p:cNvSpPr/>
          <p:nvPr/>
        </p:nvSpPr>
        <p:spPr>
          <a:xfrm>
            <a:off x="5182553" y="5199221"/>
            <a:ext cx="4265176" cy="1516261"/>
          </a:xfrm>
          <a:prstGeom prst="roundRect">
            <a:avLst>
              <a:gd name="adj" fmla="val 32274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5394008" y="5410676"/>
            <a:ext cx="2548652" cy="318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000"/>
              <a:buFont typeface="Instrument Sans SemiBold"/>
              <a:buNone/>
            </a:pPr>
            <a:r>
              <a:rPr lang="en-US" sz="200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Без аналогов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/>
          <p:nvPr/>
        </p:nvSpPr>
        <p:spPr>
          <a:xfrm>
            <a:off x="5394008" y="5851565"/>
            <a:ext cx="3842266" cy="652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Уникальный продукт на рынке фитнес-технологий.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6"/>
          <p:cNvSpPr/>
          <p:nvPr/>
        </p:nvSpPr>
        <p:spPr>
          <a:xfrm>
            <a:off x="9651563" y="5199221"/>
            <a:ext cx="4265176" cy="1516261"/>
          </a:xfrm>
          <a:prstGeom prst="roundRect">
            <a:avLst>
              <a:gd name="adj" fmla="val 32274"/>
            </a:avLst>
          </a:prstGeom>
          <a:solidFill>
            <a:srgbClr val="3D3D42"/>
          </a:solidFill>
          <a:ln w="9525" cap="flat" cmpd="sng">
            <a:solidFill>
              <a:srgbClr val="5656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6"/>
          <p:cNvSpPr/>
          <p:nvPr/>
        </p:nvSpPr>
        <p:spPr>
          <a:xfrm>
            <a:off x="9863018" y="5410676"/>
            <a:ext cx="2548652" cy="318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000"/>
              <a:buFont typeface="Instrument Sans SemiBold"/>
              <a:buNone/>
            </a:pPr>
            <a:r>
              <a:rPr lang="en-US" sz="200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Ваш путь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6"/>
          <p:cNvSpPr/>
          <p:nvPr/>
        </p:nvSpPr>
        <p:spPr>
          <a:xfrm>
            <a:off x="9863018" y="5851565"/>
            <a:ext cx="3842266" cy="652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 правильным и безопасным тренировкам.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6"/>
          <p:cNvSpPr/>
          <p:nvPr/>
        </p:nvSpPr>
        <p:spPr>
          <a:xfrm>
            <a:off x="713542" y="7021235"/>
            <a:ext cx="12252722" cy="382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2400"/>
              <a:buFont typeface="Instrument Sans SemiBold"/>
              <a:buNone/>
            </a:pP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Присоединяйтесь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к </a:t>
            </a: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революции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в </a:t>
            </a: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спорте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и </a:t>
            </a: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здоровом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образе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</a:t>
            </a: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жизни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с </a:t>
            </a:r>
            <a:r>
              <a:rPr lang="en-US" sz="2400" dirty="0" err="1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помощью</a:t>
            </a:r>
            <a:r>
              <a:rPr lang="en-US" sz="2400" dirty="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 ИИ!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6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344</Words>
  <Application>Microsoft Office PowerPoint</Application>
  <PresentationFormat>Произвольный</PresentationFormat>
  <Paragraphs>88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Instrument Sans Medium</vt:lpstr>
      <vt:lpstr>Calibri</vt:lpstr>
      <vt:lpstr>Instrument Sans SemiBold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Студент Фрязино</dc:creator>
  <cp:lastModifiedBy>Студент Фрязино</cp:lastModifiedBy>
  <cp:revision>7</cp:revision>
  <dcterms:modified xsi:type="dcterms:W3CDTF">2026-05-28T16:17:08Z</dcterms:modified>
</cp:coreProperties>
</file>