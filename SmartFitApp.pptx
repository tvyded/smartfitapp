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6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8229600" cx="14630400"/>
  <p:notesSz cx="8229600" cy="14630400"/>
  <p:embeddedFontLst>
    <p:embeddedFont>
      <p:font typeface="Instrument Sans SemiBold"/>
      <p:regular r:id="rId13"/>
      <p:bold r:id="rId14"/>
      <p:italic r:id="rId15"/>
      <p:boldItalic r:id="rId16"/>
    </p:embeddedFont>
    <p:embeddedFont>
      <p:font typeface="Instrument Sans Medium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8A9F250-2027-4071-98A1-494C9D982275}">
  <a:tblStyle styleId="{F8A9F250-2027-4071-98A1-494C9D98227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strumentSansMedium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InstrumentSansSemiBold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strumentSansSemiBold-italic.fntdata"/><Relationship Id="rId14" Type="http://schemas.openxmlformats.org/officeDocument/2006/relationships/font" Target="fonts/InstrumentSansSemiBold-bold.fntdata"/><Relationship Id="rId17" Type="http://schemas.openxmlformats.org/officeDocument/2006/relationships/font" Target="fonts/InstrumentSansMedium-regular.fntdata"/><Relationship Id="rId16" Type="http://schemas.openxmlformats.org/officeDocument/2006/relationships/font" Target="fonts/InstrumentSansSemiBold-bold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InstrumentSansMedium-italic.fntdata"/><Relationship Id="rId6" Type="http://schemas.openxmlformats.org/officeDocument/2006/relationships/slide" Target="slides/slide1.xml"/><Relationship Id="rId18" Type="http://schemas.openxmlformats.org/officeDocument/2006/relationships/font" Target="fonts/InstrumentSansMedium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565525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660900" y="0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-273050" y="1828800"/>
            <a:ext cx="8775700" cy="49371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3896975"/>
            <a:ext cx="3565525" cy="7334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/>
          <p:nvPr>
            <p:ph idx="2" type="sldImg"/>
          </p:nvPr>
        </p:nvSpPr>
        <p:spPr>
          <a:xfrm>
            <a:off x="-273050" y="1828800"/>
            <a:ext cx="8775700" cy="49371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1:notes"/>
          <p:cNvSpPr txBox="1"/>
          <p:nvPr>
            <p:ph idx="1" type="body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1:notes"/>
          <p:cNvSpPr txBox="1"/>
          <p:nvPr>
            <p:ph idx="12" type="sldNum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:notes"/>
          <p:cNvSpPr/>
          <p:nvPr>
            <p:ph idx="2" type="sldImg"/>
          </p:nvPr>
        </p:nvSpPr>
        <p:spPr>
          <a:xfrm>
            <a:off x="-273050" y="1828800"/>
            <a:ext cx="8775700" cy="49371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p2:notes"/>
          <p:cNvSpPr txBox="1"/>
          <p:nvPr>
            <p:ph idx="1" type="body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2:notes"/>
          <p:cNvSpPr txBox="1"/>
          <p:nvPr>
            <p:ph idx="12" type="sldNum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/>
          <p:nvPr>
            <p:ph idx="2" type="sldImg"/>
          </p:nvPr>
        </p:nvSpPr>
        <p:spPr>
          <a:xfrm>
            <a:off x="-273050" y="1828800"/>
            <a:ext cx="8775700" cy="49371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3:notes"/>
          <p:cNvSpPr txBox="1"/>
          <p:nvPr>
            <p:ph idx="1" type="body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3:notes"/>
          <p:cNvSpPr txBox="1"/>
          <p:nvPr>
            <p:ph idx="12" type="sldNum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2d61155f_0_0:notes"/>
          <p:cNvSpPr txBox="1"/>
          <p:nvPr>
            <p:ph idx="1" type="body"/>
          </p:nvPr>
        </p:nvSpPr>
        <p:spPr>
          <a:xfrm>
            <a:off x="822952" y="6949422"/>
            <a:ext cx="6583500" cy="65835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g3e52d61155f_0_0:notes"/>
          <p:cNvSpPr/>
          <p:nvPr>
            <p:ph idx="2" type="sldImg"/>
          </p:nvPr>
        </p:nvSpPr>
        <p:spPr>
          <a:xfrm>
            <a:off x="1371867" y="1097244"/>
            <a:ext cx="5486700" cy="5486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/>
          <p:nvPr>
            <p:ph idx="2" type="sldImg"/>
          </p:nvPr>
        </p:nvSpPr>
        <p:spPr>
          <a:xfrm>
            <a:off x="-273050" y="1828800"/>
            <a:ext cx="8775700" cy="49371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:notes"/>
          <p:cNvSpPr txBox="1"/>
          <p:nvPr>
            <p:ph idx="12" type="sldNum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5:notes"/>
          <p:cNvSpPr/>
          <p:nvPr>
            <p:ph idx="2" type="sldImg"/>
          </p:nvPr>
        </p:nvSpPr>
        <p:spPr>
          <a:xfrm>
            <a:off x="-273050" y="1828800"/>
            <a:ext cx="8775700" cy="49371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p5:notes"/>
          <p:cNvSpPr txBox="1"/>
          <p:nvPr>
            <p:ph idx="1" type="body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5:notes"/>
          <p:cNvSpPr txBox="1"/>
          <p:nvPr>
            <p:ph idx="12" type="sldNum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/>
          <p:nvPr>
            <p:ph idx="2" type="sldImg"/>
          </p:nvPr>
        </p:nvSpPr>
        <p:spPr>
          <a:xfrm>
            <a:off x="-273050" y="1828800"/>
            <a:ext cx="8775700" cy="49371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6:notes"/>
          <p:cNvSpPr txBox="1"/>
          <p:nvPr>
            <p:ph idx="1" type="body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6:notes"/>
          <p:cNvSpPr txBox="1"/>
          <p:nvPr>
            <p:ph idx="12" type="sldNum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" name="Google Shape;13;p2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5" name="Google Shape;15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7" name="Google Shape;17;p3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9" name="Google Shape;1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1" name="Google Shape;21;p4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3" name="Google Shape;23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" name="Google Shape;25;p5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7" name="Google Shape;27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" name="Google Shape;29;p6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2" name="Google Shape;32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4" name="Google Shape;34;p8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215" y="7749540"/>
            <a:ext cx="1722605" cy="411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 1">
  <p:cSld name="Slide 2 master_1">
    <p:bg>
      <p:bgPr>
        <a:solidFill>
          <a:srgbClr val="FFFFFF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6" name="Google Shape;36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4630042" cy="8229239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9"/>
          <p:cNvSpPr/>
          <p:nvPr/>
        </p:nvSpPr>
        <p:spPr>
          <a:xfrm>
            <a:off x="0" y="0"/>
            <a:ext cx="14630100" cy="8229300"/>
          </a:xfrm>
          <a:prstGeom prst="rect">
            <a:avLst/>
          </a:prstGeom>
          <a:solidFill>
            <a:srgbClr val="2A2A2D">
              <a:alpha val="94900"/>
            </a:srgbClr>
          </a:solid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38" name="Google Shape;38;p9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839040" y="7749720"/>
            <a:ext cx="1722240" cy="41112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9"/>
          <p:cNvSpPr txBox="1"/>
          <p:nvPr>
            <p:ph type="title"/>
          </p:nvPr>
        </p:nvSpPr>
        <p:spPr>
          <a:xfrm>
            <a:off x="731520" y="328320"/>
            <a:ext cx="13167000" cy="137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0" name="Google Shape;40;p9"/>
          <p:cNvSpPr txBox="1"/>
          <p:nvPr>
            <p:ph idx="1" type="body"/>
          </p:nvPr>
        </p:nvSpPr>
        <p:spPr>
          <a:xfrm>
            <a:off x="731520" y="1925640"/>
            <a:ext cx="13167000" cy="47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9" Type="http://schemas.openxmlformats.org/officeDocument/2006/relationships/image" Target="../media/image18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5.png"/><Relationship Id="rId8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Relationship Id="rId11" Type="http://schemas.openxmlformats.org/officeDocument/2006/relationships/image" Target="../media/image20.png"/><Relationship Id="rId10" Type="http://schemas.openxmlformats.org/officeDocument/2006/relationships/image" Target="../media/image22.png"/><Relationship Id="rId12" Type="http://schemas.openxmlformats.org/officeDocument/2006/relationships/image" Target="../media/image21.png"/><Relationship Id="rId9" Type="http://schemas.openxmlformats.org/officeDocument/2006/relationships/image" Target="../media/image19.png"/><Relationship Id="rId5" Type="http://schemas.openxmlformats.org/officeDocument/2006/relationships/image" Target="../media/image11.png"/><Relationship Id="rId6" Type="http://schemas.openxmlformats.org/officeDocument/2006/relationships/image" Target="../media/image14.png"/><Relationship Id="rId7" Type="http://schemas.openxmlformats.org/officeDocument/2006/relationships/image" Target="../media/image12.png"/><Relationship Id="rId8" Type="http://schemas.openxmlformats.org/officeDocument/2006/relationships/image" Target="../media/image1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/>
          <p:nvPr/>
        </p:nvSpPr>
        <p:spPr>
          <a:xfrm>
            <a:off x="724240" y="5044131"/>
            <a:ext cx="4196400" cy="2592300"/>
          </a:xfrm>
          <a:prstGeom prst="roundRect">
            <a:avLst>
              <a:gd fmla="val 3675" name="adj"/>
            </a:avLst>
          </a:prstGeom>
          <a:solidFill>
            <a:srgbClr val="3D3D42"/>
          </a:solidFill>
          <a:ln cap="flat" cmpd="sng" w="9525">
            <a:solidFill>
              <a:srgbClr val="565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7" name="Google Shape;4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8674" y="5278565"/>
            <a:ext cx="680442" cy="68044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8" name="Google Shape;4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45840" y="5465612"/>
            <a:ext cx="306109" cy="306109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0"/>
          <p:cNvSpPr/>
          <p:nvPr/>
        </p:nvSpPr>
        <p:spPr>
          <a:xfrm>
            <a:off x="958674" y="6185821"/>
            <a:ext cx="2835300" cy="3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200"/>
              <a:buFont typeface="Instrument Sans SemiBold"/>
              <a:buNone/>
            </a:pPr>
            <a:r>
              <a:rPr b="0" i="0" lang="en-US" sz="2200" u="none" cap="none" strike="noStrike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Визуальный Анализ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0"/>
          <p:cNvSpPr/>
          <p:nvPr/>
        </p:nvSpPr>
        <p:spPr>
          <a:xfrm>
            <a:off x="958674" y="6676239"/>
            <a:ext cx="3727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50"/>
              <a:buFont typeface="Instrument Sans Medium"/>
              <a:buNone/>
            </a:pPr>
            <a:r>
              <a:rPr b="0" i="0" lang="en-US" sz="1750" u="none" cap="none" strike="noStrik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Камера фиксирует ваши движения.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0"/>
          <p:cNvSpPr/>
          <p:nvPr/>
        </p:nvSpPr>
        <p:spPr>
          <a:xfrm>
            <a:off x="5147412" y="5044131"/>
            <a:ext cx="4196400" cy="2592300"/>
          </a:xfrm>
          <a:prstGeom prst="roundRect">
            <a:avLst>
              <a:gd fmla="val 3675" name="adj"/>
            </a:avLst>
          </a:prstGeom>
          <a:solidFill>
            <a:srgbClr val="3D3D42"/>
          </a:solidFill>
          <a:ln cap="flat" cmpd="sng" w="9525">
            <a:solidFill>
              <a:srgbClr val="565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2" name="Google Shape;52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81846" y="5278565"/>
            <a:ext cx="680442" cy="68044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53" name="Google Shape;53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569012" y="5465612"/>
            <a:ext cx="306109" cy="306109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0"/>
          <p:cNvSpPr/>
          <p:nvPr/>
        </p:nvSpPr>
        <p:spPr>
          <a:xfrm>
            <a:off x="5381846" y="6185821"/>
            <a:ext cx="2835300" cy="3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200"/>
              <a:buFont typeface="Instrument Sans SemiBold"/>
              <a:buNone/>
            </a:pPr>
            <a:r>
              <a:rPr b="0" i="0" lang="en-US" sz="2200" u="none" cap="none" strike="noStrike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ИИ-Аналитика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0"/>
          <p:cNvSpPr/>
          <p:nvPr/>
        </p:nvSpPr>
        <p:spPr>
          <a:xfrm>
            <a:off x="5381846" y="6676239"/>
            <a:ext cx="3727500" cy="7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50"/>
              <a:buFont typeface="Instrument Sans Medium"/>
              <a:buNone/>
            </a:pPr>
            <a:r>
              <a:rPr b="0" i="0" lang="en-US" sz="1750" u="none" cap="none" strike="noStrik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Искусственный интеллект оценивает технику.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0"/>
          <p:cNvSpPr/>
          <p:nvPr/>
        </p:nvSpPr>
        <p:spPr>
          <a:xfrm>
            <a:off x="9570583" y="5044131"/>
            <a:ext cx="4196400" cy="2592300"/>
          </a:xfrm>
          <a:prstGeom prst="roundRect">
            <a:avLst>
              <a:gd fmla="val 3675" name="adj"/>
            </a:avLst>
          </a:prstGeom>
          <a:solidFill>
            <a:srgbClr val="3D3D42"/>
          </a:solidFill>
          <a:ln cap="flat" cmpd="sng" w="9525">
            <a:solidFill>
              <a:srgbClr val="565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7" name="Google Shape;57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805018" y="5278565"/>
            <a:ext cx="680442" cy="68044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58" name="Google Shape;58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992184" y="5465612"/>
            <a:ext cx="306109" cy="306109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0"/>
          <p:cNvSpPr/>
          <p:nvPr/>
        </p:nvSpPr>
        <p:spPr>
          <a:xfrm>
            <a:off x="9805018" y="6185821"/>
            <a:ext cx="3143400" cy="3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200"/>
              <a:buFont typeface="Instrument Sans SemiBold"/>
              <a:buNone/>
            </a:pPr>
            <a:r>
              <a:rPr b="0" i="0" lang="en-US" sz="2200" u="none" cap="none" strike="noStrike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Персональный Тренер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0"/>
          <p:cNvSpPr/>
          <p:nvPr/>
        </p:nvSpPr>
        <p:spPr>
          <a:xfrm>
            <a:off x="9805018" y="6676239"/>
            <a:ext cx="3727500" cy="3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50"/>
              <a:buFont typeface="Instrument Sans Medium"/>
              <a:buNone/>
            </a:pPr>
            <a:r>
              <a:rPr b="0" i="0" lang="en-US" sz="1750" u="none" cap="none" strike="noStrik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Подсказки в реальном времени.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0"/>
          <p:cNvSpPr/>
          <p:nvPr/>
        </p:nvSpPr>
        <p:spPr>
          <a:xfrm>
            <a:off x="12569578" y="7636475"/>
            <a:ext cx="2051221" cy="593124"/>
          </a:xfrm>
          <a:prstGeom prst="rect">
            <a:avLst/>
          </a:prstGeom>
          <a:solidFill>
            <a:srgbClr val="36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0"/>
          <p:cNvSpPr/>
          <p:nvPr/>
        </p:nvSpPr>
        <p:spPr>
          <a:xfrm>
            <a:off x="12569577" y="76364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0"/>
          <p:cNvSpPr txBox="1"/>
          <p:nvPr/>
        </p:nvSpPr>
        <p:spPr>
          <a:xfrm>
            <a:off x="5143575" y="2000075"/>
            <a:ext cx="404940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SmartFit</a:t>
            </a:r>
            <a:endParaRPr sz="7200"/>
          </a:p>
        </p:txBody>
      </p:sp>
      <p:pic>
        <p:nvPicPr>
          <p:cNvPr id="64" name="Google Shape;64;p10" title="free-icon-biceps-6619275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388125" y="627925"/>
            <a:ext cx="2811000" cy="28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0" title="free-icon-biceps-6619275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 flipH="1">
            <a:off x="10137425" y="627925"/>
            <a:ext cx="2811000" cy="28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0"/>
          <p:cNvSpPr txBox="1"/>
          <p:nvPr/>
        </p:nvSpPr>
        <p:spPr>
          <a:xfrm>
            <a:off x="4344375" y="292950"/>
            <a:ext cx="5647800" cy="127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Мобильное приложение с  искусственным интеллектом</a:t>
            </a:r>
            <a:endParaRPr sz="100"/>
          </a:p>
        </p:txBody>
      </p:sp>
      <p:sp>
        <p:nvSpPr>
          <p:cNvPr id="67" name="Google Shape;67;p10"/>
          <p:cNvSpPr txBox="1"/>
          <p:nvPr/>
        </p:nvSpPr>
        <p:spPr>
          <a:xfrm>
            <a:off x="3600300" y="3756400"/>
            <a:ext cx="7429800" cy="8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5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Ваш домашний тренер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793790" y="845225"/>
            <a:ext cx="13042821" cy="14175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rgbClr val="CBCCCE"/>
              </a:buClr>
              <a:buSzPts val="4450"/>
              <a:buFont typeface="Instrument Sans SemiBold"/>
              <a:buNone/>
            </a:pPr>
            <a:r>
              <a:rPr b="0" i="0" lang="en-US" sz="4450" u="none" cap="none" strike="noStrike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Актуальность проекта: Революция домашних тренировок</a:t>
            </a:r>
            <a:endParaRPr b="0" i="0" sz="4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1"/>
          <p:cNvSpPr/>
          <p:nvPr/>
        </p:nvSpPr>
        <p:spPr>
          <a:xfrm>
            <a:off x="793790" y="2602944"/>
            <a:ext cx="13042821" cy="10887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50"/>
              <a:buFont typeface="Instrument Sans Medium"/>
              <a:buNone/>
            </a:pPr>
            <a:r>
              <a:rPr b="0" i="0" lang="en-US" sz="1750" u="none" cap="none" strike="noStrik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В современном мире, где время становится всё более ценным ресурсом, домашние тренировки набирают популярность. Однако отсутствие квалифицированного контроля часто приводит к неэффективным занятиям и даже травмам.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1"/>
          <p:cNvSpPr/>
          <p:nvPr/>
        </p:nvSpPr>
        <p:spPr>
          <a:xfrm>
            <a:off x="793790" y="3946803"/>
            <a:ext cx="4196358" cy="2456617"/>
          </a:xfrm>
          <a:prstGeom prst="roundRect">
            <a:avLst>
              <a:gd fmla="val 5956" name="adj"/>
            </a:avLst>
          </a:prstGeom>
          <a:solidFill>
            <a:srgbClr val="2A2A2D">
              <a:alpha val="94901"/>
            </a:srgbClr>
          </a:solidFill>
          <a:ln cap="flat" cmpd="sng" w="30475">
            <a:solidFill>
              <a:srgbClr val="565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6" name="Google Shape;7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3310" y="3946803"/>
            <a:ext cx="121920" cy="2456617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1"/>
          <p:cNvSpPr/>
          <p:nvPr/>
        </p:nvSpPr>
        <p:spPr>
          <a:xfrm>
            <a:off x="1142524" y="4204097"/>
            <a:ext cx="283523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200"/>
              <a:buFont typeface="Instrument Sans SemiBold"/>
              <a:buNone/>
            </a:pPr>
            <a:r>
              <a:rPr b="0" i="0" lang="en-US" sz="2200" u="none" cap="none" strike="noStrike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Домашний Фитнес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1"/>
          <p:cNvSpPr/>
          <p:nvPr/>
        </p:nvSpPr>
        <p:spPr>
          <a:xfrm>
            <a:off x="1142524" y="4694515"/>
            <a:ext cx="3590330" cy="10887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50"/>
              <a:buFont typeface="Instrument Sans Medium"/>
              <a:buNone/>
            </a:pPr>
            <a:r>
              <a:rPr b="0" i="0" lang="en-US" sz="1750" u="none" cap="none" strike="noStrik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Растущий тренд, требующий адекватной поддержки и контроля.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1"/>
          <p:cNvSpPr/>
          <p:nvPr/>
        </p:nvSpPr>
        <p:spPr>
          <a:xfrm>
            <a:off x="5216962" y="3946803"/>
            <a:ext cx="4196358" cy="2456617"/>
          </a:xfrm>
          <a:prstGeom prst="roundRect">
            <a:avLst>
              <a:gd fmla="val 5956" name="adj"/>
            </a:avLst>
          </a:prstGeom>
          <a:solidFill>
            <a:srgbClr val="2A2A2D">
              <a:alpha val="94901"/>
            </a:srgbClr>
          </a:solidFill>
          <a:ln cap="flat" cmpd="sng" w="30475">
            <a:solidFill>
              <a:srgbClr val="565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0" name="Google Shape;8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86482" y="3946803"/>
            <a:ext cx="121920" cy="245661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1"/>
          <p:cNvSpPr/>
          <p:nvPr/>
        </p:nvSpPr>
        <p:spPr>
          <a:xfrm>
            <a:off x="5565696" y="4204097"/>
            <a:ext cx="3380065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200"/>
              <a:buFont typeface="Instrument Sans SemiBold"/>
              <a:buNone/>
            </a:pPr>
            <a:r>
              <a:rPr b="0" i="0" lang="en-US" sz="2200" u="none" cap="none" strike="noStrike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Отсутствие Конкурентов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1"/>
          <p:cNvSpPr/>
          <p:nvPr/>
        </p:nvSpPr>
        <p:spPr>
          <a:xfrm>
            <a:off x="5565696" y="4694515"/>
            <a:ext cx="3590330" cy="145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50"/>
              <a:buFont typeface="Instrument Sans Medium"/>
              <a:buNone/>
            </a:pPr>
            <a:r>
              <a:rPr b="0" i="0" lang="en-US" sz="1750" u="none" cap="none" strike="noStrik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На рынке отсутствуют аналоги, предлагающие комплексный анализ техники выполнения упражнений.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1"/>
          <p:cNvSpPr/>
          <p:nvPr/>
        </p:nvSpPr>
        <p:spPr>
          <a:xfrm>
            <a:off x="9640133" y="3946803"/>
            <a:ext cx="4196358" cy="2456617"/>
          </a:xfrm>
          <a:prstGeom prst="roundRect">
            <a:avLst>
              <a:gd fmla="val 5956" name="adj"/>
            </a:avLst>
          </a:prstGeom>
          <a:solidFill>
            <a:srgbClr val="2A2A2D">
              <a:alpha val="94901"/>
            </a:srgbClr>
          </a:solidFill>
          <a:ln cap="flat" cmpd="sng" w="30475">
            <a:solidFill>
              <a:srgbClr val="565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4" name="Google Shape;8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09653" y="3946803"/>
            <a:ext cx="121920" cy="2456617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1"/>
          <p:cNvSpPr/>
          <p:nvPr/>
        </p:nvSpPr>
        <p:spPr>
          <a:xfrm>
            <a:off x="9988868" y="4204097"/>
            <a:ext cx="3163848" cy="354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200"/>
              <a:buFont typeface="Instrument Sans SemiBold"/>
              <a:buNone/>
            </a:pPr>
            <a:r>
              <a:rPr b="0" i="0" lang="en-US" sz="2200" u="none" cap="none" strike="noStrike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Удобство для Пожилых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1"/>
          <p:cNvSpPr/>
          <p:nvPr/>
        </p:nvSpPr>
        <p:spPr>
          <a:xfrm>
            <a:off x="9988868" y="4694515"/>
            <a:ext cx="3590330" cy="145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50"/>
              <a:buFont typeface="Instrument Sans Medium"/>
              <a:buNone/>
            </a:pPr>
            <a:r>
              <a:rPr b="0" i="0" lang="en-US" sz="1750" u="none" cap="none" strike="noStrik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Идеальное решение для тех, кто предпочитает комфорт и уединение домашней обстановки.</a:t>
            </a:r>
            <a:endParaRPr b="0" i="0" sz="1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1"/>
          <p:cNvSpPr/>
          <p:nvPr/>
        </p:nvSpPr>
        <p:spPr>
          <a:xfrm>
            <a:off x="12569578" y="76364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/>
          <p:nvPr/>
        </p:nvSpPr>
        <p:spPr>
          <a:xfrm>
            <a:off x="12569577" y="76364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94" name="Google Shape;94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5486400" cy="82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2"/>
          <p:cNvSpPr/>
          <p:nvPr/>
        </p:nvSpPr>
        <p:spPr>
          <a:xfrm>
            <a:off x="6076831" y="945475"/>
            <a:ext cx="7963138" cy="15816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757"/>
              </a:lnSpc>
              <a:spcBef>
                <a:spcPts val="0"/>
              </a:spcBef>
              <a:spcAft>
                <a:spcPts val="0"/>
              </a:spcAft>
              <a:buClr>
                <a:srgbClr val="CBCCCE"/>
              </a:buClr>
              <a:buSzPts val="3300"/>
              <a:buFont typeface="Instrument Sans SemiBold"/>
              <a:buNone/>
            </a:pPr>
            <a:r>
              <a:rPr b="0" i="0" lang="en-US" sz="3300" u="none" cap="none" strike="noStrike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Проблемы, которые мы решаем: путь к безопасным и эффективным тренировкам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2"/>
          <p:cNvSpPr/>
          <p:nvPr/>
        </p:nvSpPr>
        <p:spPr>
          <a:xfrm>
            <a:off x="5991094" y="2931928"/>
            <a:ext cx="4194600" cy="5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68300" lvl="0" marL="34290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00"/>
              <a:buFont typeface="Instrument Sans Medium"/>
              <a:buChar char="•"/>
            </a:pPr>
            <a:r>
              <a:rPr b="0" i="0" lang="en-US" sz="1700" u="none" cap="none" strike="noStrik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Риску травм из-за неправильной постановки тела и движений.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2"/>
          <p:cNvSpPr/>
          <p:nvPr/>
        </p:nvSpPr>
        <p:spPr>
          <a:xfrm>
            <a:off x="6076831" y="4019906"/>
            <a:ext cx="4194600" cy="5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68300" lvl="0" marL="34290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00"/>
              <a:buFont typeface="Instrument Sans Medium"/>
              <a:buChar char="•"/>
            </a:pPr>
            <a:r>
              <a:rPr b="0" i="0" lang="en-US" sz="1700" u="none" cap="none" strike="noStrik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Низкой эффективности тренировок без понимания ошибок.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2"/>
          <p:cNvSpPr/>
          <p:nvPr/>
        </p:nvSpPr>
        <p:spPr>
          <a:xfrm>
            <a:off x="6076906" y="5107883"/>
            <a:ext cx="4194600" cy="5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68300" lvl="0" marL="34290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700"/>
              <a:buFont typeface="Instrument Sans Medium"/>
              <a:buChar char="•"/>
            </a:pPr>
            <a:r>
              <a:rPr b="0" i="0" lang="en-US" sz="1700" u="none" cap="none" strike="noStrik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Недостаточной мотивации из-за отсутствия видимого прогресса.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2"/>
          <p:cNvSpPr/>
          <p:nvPr/>
        </p:nvSpPr>
        <p:spPr>
          <a:xfrm>
            <a:off x="5991106" y="6195842"/>
            <a:ext cx="4194600" cy="107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300"/>
              <a:buFont typeface="Instrument Sans Medium"/>
              <a:buNone/>
            </a:pPr>
            <a:r>
              <a:rPr b="0" i="0" lang="en-US" sz="1300" u="none" cap="none" strike="noStrike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Кроме того, высокая стоимость персональных тренеров делает их недоступными для многих, а существующие фитнес-приложения не предлагают функционала по анализу техники.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2"/>
          <p:cNvSpPr/>
          <p:nvPr/>
        </p:nvSpPr>
        <p:spPr>
          <a:xfrm>
            <a:off x="10690384" y="2931914"/>
            <a:ext cx="3357086" cy="269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2"/>
          <p:cNvSpPr/>
          <p:nvPr/>
        </p:nvSpPr>
        <p:spPr>
          <a:xfrm>
            <a:off x="10690384" y="3353633"/>
            <a:ext cx="3357086" cy="269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10690384" y="3775353"/>
            <a:ext cx="3357086" cy="2699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1538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3" name="Google Shape;103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225332" y="4235053"/>
            <a:ext cx="2287072" cy="2287072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2"/>
          <p:cNvSpPr/>
          <p:nvPr/>
        </p:nvSpPr>
        <p:spPr>
          <a:xfrm>
            <a:off x="12569578" y="7636475"/>
            <a:ext cx="2051221" cy="593124"/>
          </a:xfrm>
          <a:prstGeom prst="rect">
            <a:avLst/>
          </a:prstGeom>
          <a:solidFill>
            <a:srgbClr val="36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2"/>
          <p:cNvSpPr/>
          <p:nvPr/>
        </p:nvSpPr>
        <p:spPr>
          <a:xfrm>
            <a:off x="12569577" y="76364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0" name="Google Shape;110;p13"/>
          <p:cNvGraphicFramePr/>
          <p:nvPr/>
        </p:nvGraphicFramePr>
        <p:xfrm>
          <a:off x="1609920" y="11062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{F8A9F250-2027-4071-98A1-494C9D982275}</a:tableStyleId>
              </a:tblPr>
              <a:tblGrid>
                <a:gridCol w="2689550"/>
                <a:gridCol w="2202475"/>
                <a:gridCol w="2331725"/>
                <a:gridCol w="2278800"/>
                <a:gridCol w="2144875"/>
              </a:tblGrid>
              <a:tr h="17755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Критерии:</a:t>
                      </a:r>
                      <a:endParaRPr b="0" sz="2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Наличие подписок</a:t>
                      </a:r>
                      <a:endParaRPr b="0" sz="2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2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Контроль техники</a:t>
                      </a:r>
                      <a:endParaRPr b="0" sz="22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Возможность заниматься дома</a:t>
                      </a:r>
                      <a:endParaRPr b="0" sz="2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0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Контроль питания</a:t>
                      </a:r>
                      <a:endParaRPr b="0" sz="20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15595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2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Фитнесс приложения</a:t>
                      </a:r>
                      <a:endParaRPr b="0" sz="22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b="0" sz="2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нет</a:t>
                      </a:r>
                      <a:endParaRPr b="0" sz="2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b="0" sz="2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b="0" sz="2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15595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Тренер</a:t>
                      </a:r>
                      <a:endParaRPr b="0" sz="2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b="0" sz="2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b="0" sz="2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нет</a:t>
                      </a:r>
                      <a:endParaRPr b="0" sz="2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b="0" sz="2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865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1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Наше </a:t>
                      </a:r>
                      <a:r>
                        <a:rPr lang="en-US" sz="21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приложение</a:t>
                      </a:r>
                      <a:endParaRPr b="0" sz="21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нет</a:t>
                      </a:r>
                      <a:endParaRPr b="0" sz="2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b="0" sz="2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да</a:t>
                      </a:r>
                      <a:endParaRPr b="0" sz="2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2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нет</a:t>
                      </a:r>
                      <a:endParaRPr b="0" sz="2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225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  <p:cxnSp>
        <p:nvCxnSpPr>
          <p:cNvPr id="111" name="Google Shape;111;p13"/>
          <p:cNvCxnSpPr/>
          <p:nvPr/>
        </p:nvCxnSpPr>
        <p:spPr>
          <a:xfrm>
            <a:off x="1152000" y="720000"/>
            <a:ext cx="12456000" cy="0"/>
          </a:xfrm>
          <a:prstGeom prst="straightConnector1">
            <a:avLst/>
          </a:prstGeom>
          <a:noFill/>
          <a:ln cap="flat" cmpd="sng" w="29150">
            <a:solidFill>
              <a:srgbClr val="3465A4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2" name="Google Shape;112;p13"/>
          <p:cNvCxnSpPr/>
          <p:nvPr/>
        </p:nvCxnSpPr>
        <p:spPr>
          <a:xfrm>
            <a:off x="1152000" y="720000"/>
            <a:ext cx="12456000" cy="0"/>
          </a:xfrm>
          <a:prstGeom prst="straightConnector1">
            <a:avLst/>
          </a:prstGeom>
          <a:noFill/>
          <a:ln cap="flat" cmpd="sng" w="29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3" name="Google Shape;113;p13"/>
          <p:cNvCxnSpPr/>
          <p:nvPr/>
        </p:nvCxnSpPr>
        <p:spPr>
          <a:xfrm>
            <a:off x="1116000" y="7380000"/>
            <a:ext cx="12456000" cy="0"/>
          </a:xfrm>
          <a:prstGeom prst="straightConnector1">
            <a:avLst/>
          </a:prstGeom>
          <a:noFill/>
          <a:ln cap="flat" cmpd="sng" w="291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4" name="Google Shape;114;p13"/>
          <p:cNvSpPr/>
          <p:nvPr/>
        </p:nvSpPr>
        <p:spPr>
          <a:xfrm>
            <a:off x="12569760" y="7636680"/>
            <a:ext cx="2050800" cy="592800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3"/>
          <p:cNvSpPr txBox="1"/>
          <p:nvPr/>
        </p:nvSpPr>
        <p:spPr>
          <a:xfrm>
            <a:off x="5760000" y="0"/>
            <a:ext cx="3780000" cy="7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Конкуренты</a:t>
            </a:r>
            <a:endParaRPr b="1" i="0" sz="42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4"/>
          <p:cNvSpPr/>
          <p:nvPr/>
        </p:nvSpPr>
        <p:spPr>
          <a:xfrm>
            <a:off x="2841744" y="480756"/>
            <a:ext cx="5803106" cy="14175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71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50"/>
              <a:buFont typeface="Calibri"/>
              <a:buNone/>
            </a:pPr>
            <a:r>
              <a:t/>
            </a:r>
            <a:endParaRPr b="0" i="0" sz="4450" u="none" cap="none" strike="noStrike">
              <a:solidFill>
                <a:srgbClr val="CBCCCE"/>
              </a:solidFill>
              <a:latin typeface="Instrument Sans SemiBold"/>
              <a:ea typeface="Instrument Sans SemiBold"/>
              <a:cs typeface="Instrument Sans SemiBold"/>
              <a:sym typeface="Instrument Sans SemiBold"/>
            </a:endParaRPr>
          </a:p>
        </p:txBody>
      </p:sp>
      <p:sp>
        <p:nvSpPr>
          <p:cNvPr id="122" name="Google Shape;122;p14"/>
          <p:cNvSpPr/>
          <p:nvPr/>
        </p:nvSpPr>
        <p:spPr>
          <a:xfrm>
            <a:off x="793790" y="3054668"/>
            <a:ext cx="3564584" cy="10054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8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750" u="none" cap="none" strike="noStrike">
              <a:solidFill>
                <a:srgbClr val="CFD0D8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sp>
        <p:nvSpPr>
          <p:cNvPr id="123" name="Google Shape;123;p14"/>
          <p:cNvSpPr/>
          <p:nvPr/>
        </p:nvSpPr>
        <p:spPr>
          <a:xfrm>
            <a:off x="8654153" y="2972372"/>
            <a:ext cx="5199102" cy="362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17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rgbClr val="CFD0D8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sp>
        <p:nvSpPr>
          <p:cNvPr id="124" name="Google Shape;124;p14"/>
          <p:cNvSpPr/>
          <p:nvPr/>
        </p:nvSpPr>
        <p:spPr>
          <a:xfrm>
            <a:off x="8645009" y="3583858"/>
            <a:ext cx="5191545" cy="2146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17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b="0" i="0" sz="2800" u="none" cap="none" strike="noStrike">
              <a:solidFill>
                <a:srgbClr val="CFD0D8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sp>
        <p:nvSpPr>
          <p:cNvPr id="125" name="Google Shape;125;p14"/>
          <p:cNvSpPr/>
          <p:nvPr/>
        </p:nvSpPr>
        <p:spPr>
          <a:xfrm>
            <a:off x="12569578" y="7636475"/>
            <a:ext cx="2051221" cy="593124"/>
          </a:xfrm>
          <a:prstGeom prst="rect">
            <a:avLst/>
          </a:prstGeom>
          <a:solidFill>
            <a:srgbClr val="36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4"/>
          <p:cNvSpPr txBox="1"/>
          <p:nvPr/>
        </p:nvSpPr>
        <p:spPr>
          <a:xfrm>
            <a:off x="648883" y="608850"/>
            <a:ext cx="7219138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Программная часть проекта </a:t>
            </a:r>
            <a:endParaRPr/>
          </a:p>
        </p:txBody>
      </p:sp>
      <p:sp>
        <p:nvSpPr>
          <p:cNvPr id="127" name="Google Shape;127;p14"/>
          <p:cNvSpPr txBox="1"/>
          <p:nvPr/>
        </p:nvSpPr>
        <p:spPr>
          <a:xfrm>
            <a:off x="2005911" y="1763464"/>
            <a:ext cx="2545493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Java</a:t>
            </a:r>
            <a:endParaRPr sz="4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Изображение выглядит как круг, шаблон, Симметрия, дизайн&#10;&#10;Содержимое, созданное искусственным интеллектом, может быть неверным." id="128" name="Google Shape;12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5859" y="4839388"/>
            <a:ext cx="934880" cy="893937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4"/>
          <p:cNvSpPr txBox="1"/>
          <p:nvPr/>
        </p:nvSpPr>
        <p:spPr>
          <a:xfrm>
            <a:off x="1997677" y="4934464"/>
            <a:ext cx="2553727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MediaPipe</a:t>
            </a:r>
            <a:endParaRPr sz="4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4"/>
          <p:cNvSpPr txBox="1"/>
          <p:nvPr/>
        </p:nvSpPr>
        <p:spPr>
          <a:xfrm>
            <a:off x="2113005" y="6339015"/>
            <a:ext cx="2360140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JavaScript</a:t>
            </a:r>
            <a:endParaRPr sz="4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4"/>
          <p:cNvSpPr/>
          <p:nvPr/>
        </p:nvSpPr>
        <p:spPr>
          <a:xfrm>
            <a:off x="7318158" y="2054523"/>
            <a:ext cx="1667343" cy="1043636"/>
          </a:xfrm>
          <a:prstGeom prst="roundRect">
            <a:avLst>
              <a:gd fmla="val 3675" name="adj"/>
            </a:avLst>
          </a:prstGeom>
          <a:solidFill>
            <a:srgbClr val="3D3D42"/>
          </a:solidFill>
          <a:ln cap="flat" cmpd="sng" w="9525">
            <a:solidFill>
              <a:srgbClr val="565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4"/>
          <p:cNvSpPr/>
          <p:nvPr/>
        </p:nvSpPr>
        <p:spPr>
          <a:xfrm>
            <a:off x="8785052" y="3723901"/>
            <a:ext cx="5191545" cy="2146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178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t/>
            </a:r>
            <a:endParaRPr sz="2800">
              <a:solidFill>
                <a:srgbClr val="CFD0D8"/>
              </a:solidFill>
              <a:latin typeface="Instrument Sans Medium"/>
              <a:ea typeface="Instrument Sans Medium"/>
              <a:cs typeface="Instrument Sans Medium"/>
              <a:sym typeface="Instrument Sans Medium"/>
            </a:endParaRPr>
          </a:p>
        </p:txBody>
      </p:sp>
      <p:sp>
        <p:nvSpPr>
          <p:cNvPr id="133" name="Google Shape;133;p14"/>
          <p:cNvSpPr/>
          <p:nvPr/>
        </p:nvSpPr>
        <p:spPr>
          <a:xfrm>
            <a:off x="10415585" y="2017946"/>
            <a:ext cx="1667343" cy="1043636"/>
          </a:xfrm>
          <a:prstGeom prst="roundRect">
            <a:avLst>
              <a:gd fmla="val 3675" name="adj"/>
            </a:avLst>
          </a:prstGeom>
          <a:solidFill>
            <a:srgbClr val="3D3D42"/>
          </a:solidFill>
          <a:ln cap="flat" cmpd="sng" w="9525">
            <a:solidFill>
              <a:srgbClr val="565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4"/>
          <p:cNvSpPr/>
          <p:nvPr/>
        </p:nvSpPr>
        <p:spPr>
          <a:xfrm>
            <a:off x="7318158" y="3940988"/>
            <a:ext cx="1667343" cy="1043636"/>
          </a:xfrm>
          <a:prstGeom prst="roundRect">
            <a:avLst>
              <a:gd fmla="val 3675" name="adj"/>
            </a:avLst>
          </a:prstGeom>
          <a:solidFill>
            <a:srgbClr val="3D3D42"/>
          </a:solidFill>
          <a:ln cap="flat" cmpd="sng" w="9525">
            <a:solidFill>
              <a:srgbClr val="565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4"/>
          <p:cNvSpPr/>
          <p:nvPr/>
        </p:nvSpPr>
        <p:spPr>
          <a:xfrm>
            <a:off x="10415585" y="3940987"/>
            <a:ext cx="1667343" cy="1043636"/>
          </a:xfrm>
          <a:prstGeom prst="roundRect">
            <a:avLst>
              <a:gd fmla="val 3675" name="adj"/>
            </a:avLst>
          </a:prstGeom>
          <a:solidFill>
            <a:srgbClr val="3D3D42"/>
          </a:solidFill>
          <a:ln cap="flat" cmpd="sng" w="9525">
            <a:solidFill>
              <a:srgbClr val="565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4"/>
          <p:cNvSpPr/>
          <p:nvPr/>
        </p:nvSpPr>
        <p:spPr>
          <a:xfrm>
            <a:off x="7318158" y="5819216"/>
            <a:ext cx="1667343" cy="1043636"/>
          </a:xfrm>
          <a:prstGeom prst="roundRect">
            <a:avLst>
              <a:gd fmla="val 3675" name="adj"/>
            </a:avLst>
          </a:prstGeom>
          <a:solidFill>
            <a:srgbClr val="3D3D42"/>
          </a:solidFill>
          <a:ln cap="flat" cmpd="sng" w="9525">
            <a:solidFill>
              <a:srgbClr val="565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4"/>
          <p:cNvSpPr/>
          <p:nvPr/>
        </p:nvSpPr>
        <p:spPr>
          <a:xfrm>
            <a:off x="10407347" y="5819215"/>
            <a:ext cx="1667343" cy="1043636"/>
          </a:xfrm>
          <a:prstGeom prst="roundRect">
            <a:avLst>
              <a:gd fmla="val 3675" name="adj"/>
            </a:avLst>
          </a:prstGeom>
          <a:solidFill>
            <a:srgbClr val="3D3D42"/>
          </a:solidFill>
          <a:ln cap="flat" cmpd="sng" w="9525">
            <a:solidFill>
              <a:srgbClr val="565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8" name="Google Shape;13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47995" y="2179442"/>
            <a:ext cx="816855" cy="79214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4"/>
          <p:cNvSpPr txBox="1"/>
          <p:nvPr/>
        </p:nvSpPr>
        <p:spPr>
          <a:xfrm>
            <a:off x="7414054" y="3113902"/>
            <a:ext cx="1569308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Камера</a:t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Изображение выглядит как круг, шаблон, Симметрия, дизайн&#10;&#10;Содержимое, созданное искусственным интеллектом, может быть неверным." id="140" name="Google Shape;140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803522" y="2179442"/>
            <a:ext cx="843440" cy="72934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4"/>
          <p:cNvSpPr txBox="1"/>
          <p:nvPr/>
        </p:nvSpPr>
        <p:spPr>
          <a:xfrm>
            <a:off x="10420019" y="3113902"/>
            <a:ext cx="175616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MediaPipe</a:t>
            </a:r>
            <a:endParaRPr sz="2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4"/>
          <p:cNvSpPr txBox="1"/>
          <p:nvPr/>
        </p:nvSpPr>
        <p:spPr>
          <a:xfrm>
            <a:off x="6886395" y="5110057"/>
            <a:ext cx="2624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Android Bridge</a:t>
            </a:r>
            <a:endParaRPr sz="2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4"/>
          <p:cNvSpPr txBox="1"/>
          <p:nvPr/>
        </p:nvSpPr>
        <p:spPr>
          <a:xfrm>
            <a:off x="7496261" y="7028237"/>
            <a:ext cx="1368638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Анализ</a:t>
            </a:r>
            <a:endParaRPr sz="2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4"/>
          <p:cNvSpPr txBox="1"/>
          <p:nvPr/>
        </p:nvSpPr>
        <p:spPr>
          <a:xfrm>
            <a:off x="8837327" y="605890"/>
            <a:ext cx="1768548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Схема</a:t>
            </a:r>
            <a:endParaRPr sz="4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4"/>
          <p:cNvSpPr/>
          <p:nvPr/>
        </p:nvSpPr>
        <p:spPr>
          <a:xfrm>
            <a:off x="9131643" y="2323070"/>
            <a:ext cx="1087394" cy="59312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4"/>
          <p:cNvSpPr/>
          <p:nvPr/>
        </p:nvSpPr>
        <p:spPr>
          <a:xfrm>
            <a:off x="12220832" y="2471350"/>
            <a:ext cx="1013254" cy="2372497"/>
          </a:xfrm>
          <a:prstGeom prst="curvedLeftArrow">
            <a:avLst>
              <a:gd fmla="val 25000" name="adj1"/>
              <a:gd fmla="val 50000" name="adj2"/>
              <a:gd fmla="val 25000" name="adj3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4"/>
          <p:cNvSpPr/>
          <p:nvPr/>
        </p:nvSpPr>
        <p:spPr>
          <a:xfrm>
            <a:off x="9067715" y="4193740"/>
            <a:ext cx="1207080" cy="606195"/>
          </a:xfrm>
          <a:prstGeom prst="lef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Изображение выглядит как черный, темнота&#10;&#10;Содержимое, созданное искусственным интеллектом, может быть неверным." id="148" name="Google Shape;14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818030" y="5904908"/>
            <a:ext cx="828932" cy="83717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4"/>
          <p:cNvSpPr/>
          <p:nvPr/>
        </p:nvSpPr>
        <p:spPr>
          <a:xfrm>
            <a:off x="6067167" y="4423718"/>
            <a:ext cx="1050324" cy="2211859"/>
          </a:xfrm>
          <a:prstGeom prst="curvedRightArrow">
            <a:avLst>
              <a:gd fmla="val 25000" name="adj1"/>
              <a:gd fmla="val 50000" name="adj2"/>
              <a:gd fmla="val 25000" name="adj3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4"/>
          <p:cNvSpPr txBox="1"/>
          <p:nvPr/>
        </p:nvSpPr>
        <p:spPr>
          <a:xfrm>
            <a:off x="10025448" y="7043350"/>
            <a:ext cx="270613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Обратная связь</a:t>
            </a:r>
            <a:endParaRPr/>
          </a:p>
        </p:txBody>
      </p:sp>
      <p:sp>
        <p:nvSpPr>
          <p:cNvPr id="151" name="Google Shape;151;p14"/>
          <p:cNvSpPr/>
          <p:nvPr/>
        </p:nvSpPr>
        <p:spPr>
          <a:xfrm>
            <a:off x="9115167" y="6038334"/>
            <a:ext cx="1153297" cy="613719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4"/>
          <p:cNvSpPr/>
          <p:nvPr/>
        </p:nvSpPr>
        <p:spPr>
          <a:xfrm>
            <a:off x="12569577" y="76364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4"/>
          <p:cNvSpPr/>
          <p:nvPr/>
        </p:nvSpPr>
        <p:spPr>
          <a:xfrm>
            <a:off x="12721977" y="77888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30980" y="1378291"/>
            <a:ext cx="819759" cy="15050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04848" y="3180549"/>
            <a:ext cx="2463089" cy="11675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37496" y="6150311"/>
            <a:ext cx="1006726" cy="1006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770691" y="4036283"/>
            <a:ext cx="889948" cy="889948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4"/>
          <p:cNvSpPr/>
          <p:nvPr/>
        </p:nvSpPr>
        <p:spPr>
          <a:xfrm>
            <a:off x="10537653" y="5067082"/>
            <a:ext cx="141935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JavaScript</a:t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p1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885904" y="3985961"/>
            <a:ext cx="476859" cy="875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7449029" y="6005377"/>
            <a:ext cx="1405599" cy="666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6" name="Google Shape;166;p15"/>
          <p:cNvCxnSpPr>
            <a:endCxn id="167" idx="1"/>
          </p:cNvCxnSpPr>
          <p:nvPr/>
        </p:nvCxnSpPr>
        <p:spPr>
          <a:xfrm rot="-5400000">
            <a:off x="3806868" y="2601868"/>
            <a:ext cx="2879700" cy="1157100"/>
          </a:xfrm>
          <a:prstGeom prst="curvedConnector2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68" name="Google Shape;168;p15"/>
          <p:cNvCxnSpPr>
            <a:stCxn id="167" idx="1"/>
          </p:cNvCxnSpPr>
          <p:nvPr/>
        </p:nvCxnSpPr>
        <p:spPr>
          <a:xfrm flipH="1">
            <a:off x="1868868" y="1740568"/>
            <a:ext cx="3956400" cy="4748400"/>
          </a:xfrm>
          <a:prstGeom prst="curvedConnector2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69" name="Google Shape;169;p15"/>
          <p:cNvSpPr/>
          <p:nvPr/>
        </p:nvSpPr>
        <p:spPr>
          <a:xfrm>
            <a:off x="12579179" y="7652518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25268" y="754593"/>
            <a:ext cx="7487695" cy="1971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4683" y="4434066"/>
            <a:ext cx="5545906" cy="298437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1" name="Google Shape;171;p15"/>
          <p:cNvCxnSpPr/>
          <p:nvPr/>
        </p:nvCxnSpPr>
        <p:spPr>
          <a:xfrm>
            <a:off x="8213558" y="2890764"/>
            <a:ext cx="2590800" cy="1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72" name="Google Shape;172;p15"/>
          <p:cNvCxnSpPr/>
          <p:nvPr/>
        </p:nvCxnSpPr>
        <p:spPr>
          <a:xfrm flipH="1">
            <a:off x="6720297" y="4924789"/>
            <a:ext cx="18102" cy="2002923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73" name="Google Shape;173;p15"/>
          <p:cNvCxnSpPr/>
          <p:nvPr/>
        </p:nvCxnSpPr>
        <p:spPr>
          <a:xfrm>
            <a:off x="8213558" y="581315"/>
            <a:ext cx="2590800" cy="1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74" name="Google Shape;174;p15"/>
          <p:cNvCxnSpPr/>
          <p:nvPr/>
        </p:nvCxnSpPr>
        <p:spPr>
          <a:xfrm flipH="1">
            <a:off x="356873" y="4924788"/>
            <a:ext cx="18102" cy="2002923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75" name="Google Shape;175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13558" y="3778483"/>
            <a:ext cx="3519897" cy="351989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6" name="Google Shape;176;p15"/>
          <p:cNvCxnSpPr>
            <a:stCxn id="167" idx="1"/>
            <a:endCxn id="170" idx="0"/>
          </p:cNvCxnSpPr>
          <p:nvPr/>
        </p:nvCxnSpPr>
        <p:spPr>
          <a:xfrm flipH="1">
            <a:off x="3547668" y="1740568"/>
            <a:ext cx="2277600" cy="2693400"/>
          </a:xfrm>
          <a:prstGeom prst="curvedConnector2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82" name="Google Shape;18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4630400" cy="2548652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6"/>
          <p:cNvSpPr/>
          <p:nvPr/>
        </p:nvSpPr>
        <p:spPr>
          <a:xfrm>
            <a:off x="713542" y="3374588"/>
            <a:ext cx="11916966" cy="6371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BCCCE"/>
              </a:buClr>
              <a:buSzPts val="4000"/>
              <a:buFont typeface="Instrument Sans SemiBold"/>
              <a:buNone/>
            </a:pPr>
            <a:r>
              <a:rPr lang="en-US" sz="400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Будущее тренировок: Инновации и доступность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6"/>
          <p:cNvSpPr/>
          <p:nvPr/>
        </p:nvSpPr>
        <p:spPr>
          <a:xfrm>
            <a:off x="713542" y="4317444"/>
            <a:ext cx="13203317" cy="6524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600"/>
              <a:buFont typeface="Instrument Sans Medium"/>
              <a:buNone/>
            </a:pPr>
            <a:r>
              <a:rPr lang="en-US" sz="160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Мобильное приложение с ИИ — это полноценный инструмент для достижения ваших фитнес-целей. Оно сочетает в себе профессиональный контроль, доступность и удобство, открывая новую эру в домашнем фитнесе.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6"/>
          <p:cNvSpPr/>
          <p:nvPr/>
        </p:nvSpPr>
        <p:spPr>
          <a:xfrm>
            <a:off x="713542" y="5199221"/>
            <a:ext cx="4265176" cy="1516261"/>
          </a:xfrm>
          <a:prstGeom prst="roundRect">
            <a:avLst>
              <a:gd fmla="val 32274" name="adj"/>
            </a:avLst>
          </a:prstGeom>
          <a:solidFill>
            <a:srgbClr val="3D3D42"/>
          </a:solidFill>
          <a:ln cap="flat" cmpd="sng" w="9525">
            <a:solidFill>
              <a:srgbClr val="565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6"/>
          <p:cNvSpPr/>
          <p:nvPr/>
        </p:nvSpPr>
        <p:spPr>
          <a:xfrm>
            <a:off x="924997" y="5410676"/>
            <a:ext cx="2548652" cy="3186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000"/>
              <a:buFont typeface="Instrument Sans SemiBold"/>
              <a:buNone/>
            </a:pPr>
            <a:r>
              <a:rPr lang="en-US" sz="2000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Новый уровень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6"/>
          <p:cNvSpPr/>
          <p:nvPr/>
        </p:nvSpPr>
        <p:spPr>
          <a:xfrm>
            <a:off x="924997" y="5851565"/>
            <a:ext cx="3842266" cy="6524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600"/>
              <a:buFont typeface="Instrument Sans Medium"/>
              <a:buNone/>
            </a:pPr>
            <a:r>
              <a:rPr lang="en-US" sz="160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Профессиональный контроль у вас дома.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6"/>
          <p:cNvSpPr/>
          <p:nvPr/>
        </p:nvSpPr>
        <p:spPr>
          <a:xfrm>
            <a:off x="5182553" y="5199221"/>
            <a:ext cx="4265176" cy="1516261"/>
          </a:xfrm>
          <a:prstGeom prst="roundRect">
            <a:avLst>
              <a:gd fmla="val 32274" name="adj"/>
            </a:avLst>
          </a:prstGeom>
          <a:solidFill>
            <a:srgbClr val="3D3D42"/>
          </a:solidFill>
          <a:ln cap="flat" cmpd="sng" w="9525">
            <a:solidFill>
              <a:srgbClr val="565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6"/>
          <p:cNvSpPr/>
          <p:nvPr/>
        </p:nvSpPr>
        <p:spPr>
          <a:xfrm>
            <a:off x="5394008" y="5410676"/>
            <a:ext cx="2548652" cy="3186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000"/>
              <a:buFont typeface="Instrument Sans SemiBold"/>
              <a:buNone/>
            </a:pPr>
            <a:r>
              <a:rPr lang="en-US" sz="2000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Без аналогов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6"/>
          <p:cNvSpPr/>
          <p:nvPr/>
        </p:nvSpPr>
        <p:spPr>
          <a:xfrm>
            <a:off x="5394008" y="5851565"/>
            <a:ext cx="3842266" cy="6524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600"/>
              <a:buFont typeface="Instrument Sans Medium"/>
              <a:buNone/>
            </a:pPr>
            <a:r>
              <a:rPr lang="en-US" sz="160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Уникальный продукт на рынке фитнес-технологий.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6"/>
          <p:cNvSpPr/>
          <p:nvPr/>
        </p:nvSpPr>
        <p:spPr>
          <a:xfrm>
            <a:off x="9651563" y="5199221"/>
            <a:ext cx="4265176" cy="1516261"/>
          </a:xfrm>
          <a:prstGeom prst="roundRect">
            <a:avLst>
              <a:gd fmla="val 32274" name="adj"/>
            </a:avLst>
          </a:prstGeom>
          <a:solidFill>
            <a:srgbClr val="3D3D42"/>
          </a:solidFill>
          <a:ln cap="flat" cmpd="sng" w="9525">
            <a:solidFill>
              <a:srgbClr val="565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6"/>
          <p:cNvSpPr/>
          <p:nvPr/>
        </p:nvSpPr>
        <p:spPr>
          <a:xfrm>
            <a:off x="9863018" y="5410676"/>
            <a:ext cx="2548652" cy="3186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2000"/>
              <a:buFont typeface="Instrument Sans SemiBold"/>
              <a:buNone/>
            </a:pPr>
            <a:r>
              <a:rPr lang="en-US" sz="2000">
                <a:solidFill>
                  <a:srgbClr val="CFD0D8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Ваш путь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6"/>
          <p:cNvSpPr/>
          <p:nvPr/>
        </p:nvSpPr>
        <p:spPr>
          <a:xfrm>
            <a:off x="9863018" y="5851565"/>
            <a:ext cx="3842266" cy="6524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9375"/>
              </a:lnSpc>
              <a:spcBef>
                <a:spcPts val="0"/>
              </a:spcBef>
              <a:spcAft>
                <a:spcPts val="0"/>
              </a:spcAft>
              <a:buClr>
                <a:srgbClr val="CFD0D8"/>
              </a:buClr>
              <a:buSzPts val="1600"/>
              <a:buFont typeface="Instrument Sans Medium"/>
              <a:buNone/>
            </a:pPr>
            <a:r>
              <a:rPr lang="en-US" sz="1600">
                <a:solidFill>
                  <a:srgbClr val="CFD0D8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К правильным и безопасным тренировкам.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6"/>
          <p:cNvSpPr/>
          <p:nvPr/>
        </p:nvSpPr>
        <p:spPr>
          <a:xfrm>
            <a:off x="713542" y="7021235"/>
            <a:ext cx="12252722" cy="382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BCCCE"/>
              </a:buClr>
              <a:buSzPts val="2400"/>
              <a:buFont typeface="Instrument Sans SemiBold"/>
              <a:buNone/>
            </a:pPr>
            <a:r>
              <a:rPr lang="en-US" sz="2400">
                <a:solidFill>
                  <a:srgbClr val="CBCCCE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Присоединяйтесь к революции в спорте и здоровом образе жизни с помощью ИИ!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6"/>
          <p:cNvSpPr/>
          <p:nvPr/>
        </p:nvSpPr>
        <p:spPr>
          <a:xfrm>
            <a:off x="12569578" y="7636475"/>
            <a:ext cx="2051221" cy="593124"/>
          </a:xfrm>
          <a:prstGeom prst="rect">
            <a:avLst/>
          </a:prstGeom>
          <a:solidFill>
            <a:srgbClr val="36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6"/>
          <p:cNvSpPr/>
          <p:nvPr/>
        </p:nvSpPr>
        <p:spPr>
          <a:xfrm>
            <a:off x="12569577" y="7636475"/>
            <a:ext cx="2051221" cy="593124"/>
          </a:xfrm>
          <a:prstGeom prst="rect">
            <a:avLst/>
          </a:prstGeom>
          <a:solidFill>
            <a:srgbClr val="2B2B2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