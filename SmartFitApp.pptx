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1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62" r:id="rId10"/>
  </p:sldIdLst>
  <p:sldSz cx="14630400" cy="8229600"/>
  <p:notesSz cx="8229600" cy="14630400"/>
  <p:embeddedFontLst>
    <p:embeddedFont>
      <p:font typeface="Instrument Sans Medium" panose="020B0604020202020204" charset="0"/>
      <p:regular r:id="rId12"/>
      <p:bold r:id="rId13"/>
      <p:italic r:id="rId14"/>
      <p:bold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Instrument Sans SemiBold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0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A9F250-2027-4071-98A1-494C9D982275}">
  <a:tblStyle styleId="{F8A9F250-2027-4071-98A1-494C9D9822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4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565525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660900" y="0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3896975"/>
            <a:ext cx="3565525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 txBox="1">
            <a:spLocks noGrp="1"/>
          </p:cNvSpPr>
          <p:nvPr>
            <p:ph type="sldNum" idx="12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7913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 txBox="1">
            <a:spLocks noGrp="1"/>
          </p:cNvSpPr>
          <p:nvPr>
            <p:ph type="sldNum" idx="12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/>
          <p:cNvSpPr txBox="1">
            <a:spLocks noGrp="1"/>
          </p:cNvSpPr>
          <p:nvPr>
            <p:ph type="sldNum" idx="12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 txBox="1">
            <a:spLocks noGrp="1"/>
          </p:cNvSpPr>
          <p:nvPr>
            <p:ph type="sldNum" idx="12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2d61155f_0_0:notes"/>
          <p:cNvSpPr txBox="1">
            <a:spLocks noGrp="1"/>
          </p:cNvSpPr>
          <p:nvPr>
            <p:ph type="body" idx="1"/>
          </p:nvPr>
        </p:nvSpPr>
        <p:spPr>
          <a:xfrm>
            <a:off x="822952" y="6949422"/>
            <a:ext cx="6583500" cy="6583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e52d6115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 txBox="1">
            <a:spLocks noGrp="1"/>
          </p:cNvSpPr>
          <p:nvPr>
            <p:ph type="sldNum" idx="12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 txBox="1">
            <a:spLocks noGrp="1"/>
          </p:cNvSpPr>
          <p:nvPr>
            <p:ph type="sldNum" idx="12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 txBox="1">
            <a:spLocks noGrp="1"/>
          </p:cNvSpPr>
          <p:nvPr>
            <p:ph type="sldNum" idx="12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3868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 txBox="1">
            <a:spLocks noGrp="1"/>
          </p:cNvSpPr>
          <p:nvPr>
            <p:ph type="sldNum" idx="12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" name="Google Shape;34;p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 1">
  <p:cSld name="Slide 2 master_1">
    <p:bg>
      <p:bgPr>
        <a:solidFill>
          <a:srgbClr val="FFFFFF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042" cy="822923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/>
          <p:nvPr/>
        </p:nvSpPr>
        <p:spPr>
          <a:xfrm>
            <a:off x="0" y="0"/>
            <a:ext cx="14630100" cy="8229300"/>
          </a:xfrm>
          <a:prstGeom prst="rect">
            <a:avLst/>
          </a:prstGeom>
          <a:solidFill>
            <a:srgbClr val="2A2A2D">
              <a:alpha val="94900"/>
            </a:srgbClr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p9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731520" y="328320"/>
            <a:ext cx="13167000" cy="1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1"/>
          </p:nvPr>
        </p:nvSpPr>
        <p:spPr>
          <a:xfrm>
            <a:off x="731520" y="1925640"/>
            <a:ext cx="13167000" cy="4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12569578" y="7636475"/>
            <a:ext cx="2051221" cy="593124"/>
          </a:xfrm>
          <a:prstGeom prst="rect">
            <a:avLst/>
          </a:prstGeom>
          <a:solidFill>
            <a:srgbClr val="36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0"/>
          <p:cNvSpPr/>
          <p:nvPr/>
        </p:nvSpPr>
        <p:spPr>
          <a:xfrm>
            <a:off x="12569577" y="7636475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0"/>
          <p:cNvSpPr txBox="1"/>
          <p:nvPr/>
        </p:nvSpPr>
        <p:spPr>
          <a:xfrm>
            <a:off x="5143575" y="2000075"/>
            <a:ext cx="40494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 err="1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SmartFit</a:t>
            </a:r>
            <a:endParaRPr sz="7200" dirty="0"/>
          </a:p>
        </p:txBody>
      </p:sp>
      <p:pic>
        <p:nvPicPr>
          <p:cNvPr id="64" name="Google Shape;64;p10" title="free-icon-biceps-66192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125" y="627925"/>
            <a:ext cx="2811000" cy="28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0" title="free-icon-biceps-66192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137425" y="627925"/>
            <a:ext cx="2811000" cy="28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0"/>
          <p:cNvSpPr txBox="1"/>
          <p:nvPr/>
        </p:nvSpPr>
        <p:spPr>
          <a:xfrm>
            <a:off x="4344375" y="292950"/>
            <a:ext cx="5647800" cy="12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dirty="0" err="1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Мобильное</a:t>
            </a:r>
            <a:r>
              <a:rPr lang="en-US" sz="3150" dirty="0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</a:t>
            </a:r>
            <a:r>
              <a:rPr lang="en-US" sz="3150" dirty="0" err="1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приложение</a:t>
            </a:r>
            <a:r>
              <a:rPr lang="en-US" sz="3150" dirty="0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с  </a:t>
            </a:r>
            <a:r>
              <a:rPr lang="en-US" sz="3150" dirty="0" err="1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искусственным</a:t>
            </a:r>
            <a:r>
              <a:rPr lang="en-US" sz="3150" dirty="0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</a:t>
            </a:r>
            <a:r>
              <a:rPr lang="en-US" sz="3150" dirty="0" err="1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интеллектом</a:t>
            </a:r>
            <a:endParaRPr sz="100" dirty="0"/>
          </a:p>
        </p:txBody>
      </p:sp>
      <p:sp>
        <p:nvSpPr>
          <p:cNvPr id="67" name="Google Shape;67;p10"/>
          <p:cNvSpPr txBox="1"/>
          <p:nvPr/>
        </p:nvSpPr>
        <p:spPr>
          <a:xfrm>
            <a:off x="3600300" y="3756400"/>
            <a:ext cx="74298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50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Ваш домашний тренер</a:t>
            </a:r>
            <a:endParaRPr/>
          </a:p>
        </p:txBody>
      </p:sp>
      <p:sp>
        <p:nvSpPr>
          <p:cNvPr id="28" name="Прямоугольник: скругленные углы 10"/>
          <p:cNvSpPr/>
          <p:nvPr/>
        </p:nvSpPr>
        <p:spPr bwMode="auto">
          <a:xfrm>
            <a:off x="898026" y="5172175"/>
            <a:ext cx="3138867" cy="228504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 dirty="0" smtClean="0">
                <a:ln/>
                <a:solidFill>
                  <a:schemeClr val="bg2">
                    <a:lumMod val="10000"/>
                  </a:schemeClr>
                </a:solidFill>
              </a:rPr>
              <a:t>Автор</a:t>
            </a:r>
            <a:r>
              <a:rPr lang="en-US" sz="2400" b="1" dirty="0">
                <a:ln/>
                <a:solidFill>
                  <a:schemeClr val="bg2">
                    <a:lumMod val="10000"/>
                  </a:schemeClr>
                </a:solidFill>
              </a:rPr>
              <a:t>:</a:t>
            </a:r>
            <a:r>
              <a:rPr lang="ru-RU" sz="2400" b="1" dirty="0" smtClean="0">
                <a:ln/>
                <a:solidFill>
                  <a:schemeClr val="bg2">
                    <a:lumMod val="10000"/>
                  </a:schemeClr>
                </a:solidFill>
              </a:rPr>
              <a:t>                   </a:t>
            </a:r>
            <a:endParaRPr lang="ru-RU" sz="2400" dirty="0"/>
          </a:p>
          <a:p>
            <a:pPr algn="ctr">
              <a:defRPr/>
            </a:pPr>
            <a:r>
              <a:rPr lang="ru-RU" sz="2400" b="1" dirty="0">
                <a:ln/>
                <a:solidFill>
                  <a:schemeClr val="bg2">
                    <a:lumMod val="10000"/>
                  </a:schemeClr>
                </a:solidFill>
              </a:rPr>
              <a:t>Орлов Евгений </a:t>
            </a:r>
            <a:r>
              <a:rPr lang="ru-RU" sz="2400" b="1" dirty="0" smtClean="0">
                <a:ln/>
                <a:solidFill>
                  <a:schemeClr val="bg2">
                    <a:lumMod val="10000"/>
                  </a:schemeClr>
                </a:solidFill>
              </a:rPr>
              <a:t/>
            </a:r>
            <a:br>
              <a:rPr lang="ru-RU" sz="2400" b="1" dirty="0" smtClean="0">
                <a:ln/>
                <a:solidFill>
                  <a:schemeClr val="bg2">
                    <a:lumMod val="10000"/>
                  </a:schemeClr>
                </a:solidFill>
              </a:rPr>
            </a:br>
            <a:r>
              <a:rPr lang="ru-RU" sz="2400" b="1" dirty="0" smtClean="0">
                <a:ln/>
                <a:solidFill>
                  <a:schemeClr val="bg2">
                    <a:lumMod val="10000"/>
                  </a:schemeClr>
                </a:solidFill>
              </a:rPr>
              <a:t>9 </a:t>
            </a:r>
            <a:r>
              <a:rPr lang="ru-RU" sz="2400" b="1" dirty="0">
                <a:ln/>
                <a:solidFill>
                  <a:schemeClr val="bg2">
                    <a:lumMod val="10000"/>
                  </a:schemeClr>
                </a:solidFill>
              </a:rPr>
              <a:t>класс</a:t>
            </a:r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053352" y="5714534"/>
            <a:ext cx="42298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600" dirty="0">
                <a:solidFill>
                  <a:schemeClr val="bg1">
                    <a:lumMod val="85000"/>
                  </a:schemeClr>
                </a:solidFill>
              </a:rPr>
              <a:t>Технопарк 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bg1">
                    <a:lumMod val="85000"/>
                  </a:schemeClr>
                </a:solidFill>
              </a:rPr>
              <a:t>  </a:t>
            </a:r>
            <a:r>
              <a:rPr lang="ru-RU" sz="3600" dirty="0" smtClean="0">
                <a:solidFill>
                  <a:schemeClr val="bg1">
                    <a:lumMod val="85000"/>
                  </a:schemeClr>
                </a:solidFill>
              </a:rPr>
              <a:t>Фрязино</a:t>
            </a:r>
            <a:endParaRPr lang="ru-RU" sz="3600" dirty="0"/>
          </a:p>
        </p:txBody>
      </p:sp>
      <p:cxnSp>
        <p:nvCxnSpPr>
          <p:cNvPr id="30" name="Прямая соединительная линия 17"/>
          <p:cNvCxnSpPr>
            <a:cxnSpLocks/>
          </p:cNvCxnSpPr>
          <p:nvPr/>
        </p:nvCxnSpPr>
        <p:spPr bwMode="auto">
          <a:xfrm>
            <a:off x="5061464" y="5600632"/>
            <a:ext cx="413951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17"/>
          <p:cNvCxnSpPr>
            <a:cxnSpLocks/>
          </p:cNvCxnSpPr>
          <p:nvPr/>
        </p:nvCxnSpPr>
        <p:spPr bwMode="auto">
          <a:xfrm>
            <a:off x="5154872" y="7139383"/>
            <a:ext cx="413951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Прямоугольник: скругленные углы 10"/>
          <p:cNvSpPr/>
          <p:nvPr/>
        </p:nvSpPr>
        <p:spPr bwMode="auto">
          <a:xfrm>
            <a:off x="10225549" y="5172173"/>
            <a:ext cx="3138867" cy="228504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 dirty="0" smtClean="0">
                <a:ln/>
                <a:solidFill>
                  <a:schemeClr val="bg2">
                    <a:lumMod val="10000"/>
                  </a:schemeClr>
                </a:solidFill>
              </a:rPr>
              <a:t>Наставник</a:t>
            </a:r>
            <a:r>
              <a:rPr lang="en-US" sz="2400" b="1" dirty="0" smtClean="0">
                <a:ln/>
                <a:solidFill>
                  <a:schemeClr val="bg2">
                    <a:lumMod val="10000"/>
                  </a:schemeClr>
                </a:solidFill>
              </a:rPr>
              <a:t>:</a:t>
            </a:r>
          </a:p>
          <a:p>
            <a:pPr algn="ctr">
              <a:defRPr/>
            </a:pPr>
            <a:r>
              <a:rPr lang="ru-RU" sz="2400" b="1" dirty="0" smtClean="0">
                <a:ln/>
                <a:solidFill>
                  <a:schemeClr val="bg2">
                    <a:lumMod val="10000"/>
                  </a:schemeClr>
                </a:solidFill>
              </a:rPr>
              <a:t>Пискун Анна </a:t>
            </a:r>
            <a:r>
              <a:rPr lang="ru-RU" sz="2400" b="1" dirty="0" err="1" smtClean="0">
                <a:ln/>
                <a:solidFill>
                  <a:schemeClr val="bg2">
                    <a:lumMod val="10000"/>
                  </a:schemeClr>
                </a:solidFill>
              </a:rPr>
              <a:t>Валерьена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37077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46;p10"/>
          <p:cNvSpPr/>
          <p:nvPr/>
        </p:nvSpPr>
        <p:spPr>
          <a:xfrm>
            <a:off x="5216609" y="4953302"/>
            <a:ext cx="3194825" cy="2352186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46;p10"/>
          <p:cNvSpPr/>
          <p:nvPr/>
        </p:nvSpPr>
        <p:spPr>
          <a:xfrm>
            <a:off x="7745803" y="1716260"/>
            <a:ext cx="3194825" cy="2352186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0"/>
          <p:cNvSpPr/>
          <p:nvPr/>
        </p:nvSpPr>
        <p:spPr>
          <a:xfrm>
            <a:off x="12569578" y="7636475"/>
            <a:ext cx="2051221" cy="593124"/>
          </a:xfrm>
          <a:prstGeom prst="rect">
            <a:avLst/>
          </a:prstGeom>
          <a:solidFill>
            <a:srgbClr val="36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0"/>
          <p:cNvSpPr/>
          <p:nvPr/>
        </p:nvSpPr>
        <p:spPr>
          <a:xfrm>
            <a:off x="12569577" y="7636475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0"/>
          <p:cNvSpPr/>
          <p:nvPr/>
        </p:nvSpPr>
        <p:spPr>
          <a:xfrm>
            <a:off x="10400362" y="4953302"/>
            <a:ext cx="3194825" cy="2352186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34876" y="1812561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/>
          <p:nvPr/>
        </p:nvSpPr>
        <p:spPr>
          <a:xfrm>
            <a:off x="7924374" y="2512521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Instrument Sans SemiBold"/>
              <a:buNone/>
            </a:pPr>
            <a:r>
              <a:rPr lang="en-US" sz="2200" b="0" i="0" u="none" strike="noStrike" cap="none" dirty="0" err="1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Визуальный</a:t>
            </a:r>
            <a:r>
              <a:rPr lang="en-US" sz="2200" b="0" i="0" u="none" strike="noStrike" cap="none" dirty="0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</a:t>
            </a:r>
            <a:r>
              <a:rPr lang="en-US" sz="2200" b="0" i="0" u="none" strike="noStrike" cap="none" dirty="0" err="1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Анализ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0"/>
          <p:cNvSpPr/>
          <p:nvPr/>
        </p:nvSpPr>
        <p:spPr>
          <a:xfrm>
            <a:off x="8017459" y="3072904"/>
            <a:ext cx="288936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Камера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фиксирует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ваши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движения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.</a:t>
            </a:r>
            <a:endParaRPr sz="1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88982" y="5055616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0"/>
          <p:cNvSpPr/>
          <p:nvPr/>
        </p:nvSpPr>
        <p:spPr>
          <a:xfrm>
            <a:off x="5576134" y="5775095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Instrument Sans SemiBold"/>
              <a:buNone/>
            </a:pPr>
            <a:r>
              <a:rPr lang="en-US" sz="2200" b="0" i="0" u="none" strike="noStrike" cap="none" dirty="0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ИИ-</a:t>
            </a:r>
            <a:r>
              <a:rPr lang="en-US" sz="2200" b="0" i="0" u="none" strike="noStrike" cap="none" dirty="0" err="1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Аналитика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0"/>
          <p:cNvSpPr/>
          <p:nvPr/>
        </p:nvSpPr>
        <p:spPr>
          <a:xfrm>
            <a:off x="5459171" y="6236457"/>
            <a:ext cx="37275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Искусственный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интеллект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оценивает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технику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.</a:t>
            </a:r>
            <a:endParaRPr sz="1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66598" y="5094653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0"/>
          <p:cNvSpPr/>
          <p:nvPr/>
        </p:nvSpPr>
        <p:spPr>
          <a:xfrm>
            <a:off x="10651607" y="5832962"/>
            <a:ext cx="31434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Instrument Sans SemiBold"/>
              <a:buNone/>
            </a:pPr>
            <a:r>
              <a:rPr lang="en-US" sz="2200" b="0" i="0" u="none" strike="noStrike" cap="none" dirty="0" err="1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Персональный</a:t>
            </a:r>
            <a:r>
              <a:rPr lang="en-US" sz="2200" b="0" i="0" u="none" strike="noStrike" cap="none" dirty="0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</a:t>
            </a:r>
            <a:r>
              <a:rPr lang="en-US" sz="2200" b="0" i="0" u="none" strike="noStrike" cap="none" dirty="0" err="1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Тренер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0"/>
          <p:cNvSpPr/>
          <p:nvPr/>
        </p:nvSpPr>
        <p:spPr>
          <a:xfrm>
            <a:off x="10732995" y="6280602"/>
            <a:ext cx="3062012" cy="68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Подсказки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в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реальном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времени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.</a:t>
            </a:r>
            <a:endParaRPr sz="1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592" y="744444"/>
            <a:ext cx="3130780" cy="6783357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732016" y="61834"/>
            <a:ext cx="72200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4719"/>
              </a:lnSpc>
            </a:pPr>
            <a:r>
              <a:rPr lang="ru-RU" sz="3200" dirty="0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Мобильное приложение с  искусственным интеллектом</a:t>
            </a:r>
            <a:endParaRPr lang="ru-RU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793790" y="845225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4450"/>
              <a:buFont typeface="Instrument Sans SemiBold"/>
              <a:buNone/>
            </a:pPr>
            <a:r>
              <a:rPr lang="en-US" sz="4450" b="0" i="0" u="none" strike="noStrike" cap="non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Актуальность проекта: Революция домашних тренировок</a:t>
            </a:r>
            <a:endParaRPr sz="4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1"/>
          <p:cNvSpPr/>
          <p:nvPr/>
        </p:nvSpPr>
        <p:spPr>
          <a:xfrm>
            <a:off x="793790" y="2602944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lang="en-US" sz="1750" b="0" i="0" u="none" strike="noStrike" cap="non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В современном мире, где время становится всё более ценным ресурсом, домашние тренировки набирают популярность. Однако отсутствие квалифицированного контроля часто приводит к неэффективным занятиям и даже травмам.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1"/>
          <p:cNvSpPr/>
          <p:nvPr/>
        </p:nvSpPr>
        <p:spPr>
          <a:xfrm>
            <a:off x="793790" y="3946803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A2A2D">
              <a:alpha val="94901"/>
            </a:srgbClr>
          </a:solidFill>
          <a:ln w="3047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" name="Google Shape;76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310" y="3946803"/>
            <a:ext cx="121920" cy="2456617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/>
          <p:nvPr/>
        </p:nvSpPr>
        <p:spPr>
          <a:xfrm>
            <a:off x="1142524" y="420409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Instrument Sans SemiBold"/>
              <a:buNone/>
            </a:pPr>
            <a:r>
              <a:rPr lang="en-US" sz="2200" b="0" i="0" u="none" strike="noStrike" cap="non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Домашний Фитнес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1"/>
          <p:cNvSpPr/>
          <p:nvPr/>
        </p:nvSpPr>
        <p:spPr>
          <a:xfrm>
            <a:off x="1142524" y="4694515"/>
            <a:ext cx="3590330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lang="en-US" sz="1750" b="0" i="0" u="none" strike="noStrike" cap="non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Растущий тренд, требующий адекватной поддержки и контроля.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1"/>
          <p:cNvSpPr/>
          <p:nvPr/>
        </p:nvSpPr>
        <p:spPr>
          <a:xfrm>
            <a:off x="5216962" y="3946803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A2A2D">
              <a:alpha val="94901"/>
            </a:srgbClr>
          </a:solidFill>
          <a:ln w="3047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6482" y="3946803"/>
            <a:ext cx="121920" cy="245661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1"/>
          <p:cNvSpPr/>
          <p:nvPr/>
        </p:nvSpPr>
        <p:spPr>
          <a:xfrm>
            <a:off x="5565696" y="4204097"/>
            <a:ext cx="338006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Instrument Sans SemiBold"/>
              <a:buNone/>
            </a:pPr>
            <a:r>
              <a:rPr lang="en-US" sz="2200" b="0" i="0" u="none" strike="noStrike" cap="none" dirty="0" err="1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Отсутствие</a:t>
            </a:r>
            <a:r>
              <a:rPr lang="en-US" sz="2200" b="0" i="0" u="none" strike="noStrike" cap="none" dirty="0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</a:t>
            </a:r>
            <a:r>
              <a:rPr lang="en-US" sz="2200" b="0" i="0" u="none" strike="noStrike" cap="none" dirty="0" err="1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Конкурентов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1"/>
          <p:cNvSpPr/>
          <p:nvPr/>
        </p:nvSpPr>
        <p:spPr>
          <a:xfrm>
            <a:off x="5565696" y="4694515"/>
            <a:ext cx="3590330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На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рынке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отсутствуют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аналоги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,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предлагающие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комплексный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анализ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техники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выполнения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r>
              <a:rPr lang="en-US" sz="1750" b="0" i="0" u="none" strike="noStrike" cap="none" dirty="0" err="1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упражнений</a:t>
            </a:r>
            <a:r>
              <a:rPr lang="en-US" sz="1750" b="0" i="0" u="none" strike="noStrike" cap="none" dirty="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.</a:t>
            </a:r>
            <a:endParaRPr sz="1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1"/>
          <p:cNvSpPr/>
          <p:nvPr/>
        </p:nvSpPr>
        <p:spPr>
          <a:xfrm>
            <a:off x="9640133" y="3946803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A2A2D">
              <a:alpha val="94901"/>
            </a:srgbClr>
          </a:solidFill>
          <a:ln w="3047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9653" y="3946803"/>
            <a:ext cx="121920" cy="245661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1"/>
          <p:cNvSpPr/>
          <p:nvPr/>
        </p:nvSpPr>
        <p:spPr>
          <a:xfrm>
            <a:off x="9988868" y="4204097"/>
            <a:ext cx="3163848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Instrument Sans SemiBold"/>
              <a:buNone/>
            </a:pPr>
            <a:r>
              <a:rPr lang="en-US" sz="2200" b="0" i="0" u="none" strike="noStrike" cap="non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Удобство для Пожилых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9988868" y="4694515"/>
            <a:ext cx="3590330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lang="en-US" sz="1750" b="0" i="0" u="none" strike="noStrike" cap="non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Идеальное решение для тех, кто предпочитает комфорт и уединение домашней обстановки.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1"/>
          <p:cNvSpPr/>
          <p:nvPr/>
        </p:nvSpPr>
        <p:spPr>
          <a:xfrm>
            <a:off x="12569578" y="7636475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/>
          <p:nvPr/>
        </p:nvSpPr>
        <p:spPr>
          <a:xfrm>
            <a:off x="12569577" y="7636475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2"/>
          <p:cNvSpPr/>
          <p:nvPr/>
        </p:nvSpPr>
        <p:spPr>
          <a:xfrm>
            <a:off x="6076831" y="945475"/>
            <a:ext cx="7963138" cy="1581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3300"/>
              <a:buFont typeface="Instrument Sans SemiBold"/>
              <a:buNone/>
            </a:pPr>
            <a:r>
              <a:rPr lang="en-US" sz="3300" b="0" i="0" u="none" strike="noStrike" cap="non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Проблемы, которые мы решаем: путь к безопасным и эффективным тренировкам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2"/>
          <p:cNvSpPr/>
          <p:nvPr/>
        </p:nvSpPr>
        <p:spPr>
          <a:xfrm>
            <a:off x="5991094" y="2931928"/>
            <a:ext cx="4194600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683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  <a:buFont typeface="Instrument Sans Medium"/>
              <a:buChar char="•"/>
            </a:pPr>
            <a:r>
              <a:rPr lang="en-US" sz="1700" b="0" i="0" u="none" strike="noStrike" cap="non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Риску травм из-за неправильной постановки тела и движений.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2"/>
          <p:cNvSpPr/>
          <p:nvPr/>
        </p:nvSpPr>
        <p:spPr>
          <a:xfrm>
            <a:off x="6076831" y="4019906"/>
            <a:ext cx="4194600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683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  <a:buFont typeface="Instrument Sans Medium"/>
              <a:buChar char="•"/>
            </a:pPr>
            <a:r>
              <a:rPr lang="en-US" sz="1700" b="0" i="0" u="none" strike="noStrike" cap="non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Низкой эффективности тренировок без понимания ошибок.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2"/>
          <p:cNvSpPr/>
          <p:nvPr/>
        </p:nvSpPr>
        <p:spPr>
          <a:xfrm>
            <a:off x="6076906" y="5107883"/>
            <a:ext cx="4194600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6830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  <a:buFont typeface="Instrument Sans Medium"/>
              <a:buChar char="•"/>
            </a:pPr>
            <a:r>
              <a:rPr lang="en-US" sz="1700" b="0" i="0" u="none" strike="noStrike" cap="non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Недостаточной мотивации из-за отсутствия видимого прогресса.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2"/>
          <p:cNvSpPr/>
          <p:nvPr/>
        </p:nvSpPr>
        <p:spPr>
          <a:xfrm>
            <a:off x="5991106" y="6195842"/>
            <a:ext cx="4194600" cy="10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Instrument Sans Medium"/>
              <a:buNone/>
            </a:pPr>
            <a:r>
              <a:rPr lang="en-US" sz="1300" b="0" i="0" u="none" strike="noStrike" cap="non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Кроме того, высокая стоимость персональных тренеров делает их недоступными для многих, а существующие фитнес-приложения не предлагают функционала по анализу техники.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10690384" y="2931914"/>
            <a:ext cx="3357086" cy="26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10690384" y="3353633"/>
            <a:ext cx="3357086" cy="26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10690384" y="3775353"/>
            <a:ext cx="3357086" cy="26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25332" y="4235053"/>
            <a:ext cx="2287072" cy="228707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2"/>
          <p:cNvSpPr/>
          <p:nvPr/>
        </p:nvSpPr>
        <p:spPr>
          <a:xfrm>
            <a:off x="12569578" y="7636475"/>
            <a:ext cx="2051221" cy="593124"/>
          </a:xfrm>
          <a:prstGeom prst="rect">
            <a:avLst/>
          </a:prstGeom>
          <a:solidFill>
            <a:srgbClr val="36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2"/>
          <p:cNvSpPr/>
          <p:nvPr/>
        </p:nvSpPr>
        <p:spPr>
          <a:xfrm>
            <a:off x="12569577" y="7636475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" name="Google Shape;110;p13"/>
          <p:cNvGraphicFramePr/>
          <p:nvPr/>
        </p:nvGraphicFramePr>
        <p:xfrm>
          <a:off x="1609920" y="1106280"/>
          <a:ext cx="11647425" cy="5759650"/>
        </p:xfrm>
        <a:graphic>
          <a:graphicData uri="http://schemas.openxmlformats.org/drawingml/2006/table">
            <a:tbl>
              <a:tblPr>
                <a:noFill/>
                <a:tableStyleId>{F8A9F250-2027-4071-98A1-494C9D982275}</a:tableStyleId>
              </a:tblPr>
              <a:tblGrid>
                <a:gridCol w="268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5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Критерии: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Наличие подписок</a:t>
                      </a:r>
                      <a:endParaRPr sz="2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Контроль техники</a:t>
                      </a:r>
                      <a:endParaRPr sz="22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Возможность заниматься дома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Контроль питания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Фитнесс</a:t>
                      </a:r>
                      <a:r>
                        <a:rPr lang="en-US" sz="2200" b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200" b="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приложения</a:t>
                      </a:r>
                      <a:endParaRPr sz="22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да</a:t>
                      </a:r>
                      <a:endParaRPr sz="24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нет</a:t>
                      </a:r>
                      <a:endParaRPr sz="24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да</a:t>
                      </a:r>
                      <a:endParaRPr sz="24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да</a:t>
                      </a:r>
                      <a:endParaRPr sz="24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9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Тренер</a:t>
                      </a:r>
                      <a:endParaRPr sz="24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да</a:t>
                      </a:r>
                      <a:endParaRPr sz="24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да</a:t>
                      </a:r>
                      <a:endParaRPr sz="24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нет</a:t>
                      </a:r>
                      <a:endParaRPr sz="24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да</a:t>
                      </a:r>
                      <a:endParaRPr sz="24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Наше </a:t>
                      </a:r>
                      <a:r>
                        <a:rPr lang="en-US" sz="2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приложение</a:t>
                      </a:r>
                      <a:endParaRPr sz="2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нет</a:t>
                      </a:r>
                      <a:endParaRPr sz="24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да</a:t>
                      </a:r>
                      <a:endParaRPr sz="24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да</a:t>
                      </a:r>
                      <a:endParaRPr sz="24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нет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11" name="Google Shape;111;p13"/>
          <p:cNvCxnSpPr/>
          <p:nvPr/>
        </p:nvCxnSpPr>
        <p:spPr>
          <a:xfrm>
            <a:off x="1152000" y="720000"/>
            <a:ext cx="12456000" cy="0"/>
          </a:xfrm>
          <a:prstGeom prst="straightConnector1">
            <a:avLst/>
          </a:prstGeom>
          <a:noFill/>
          <a:ln w="29150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" name="Google Shape;112;p13"/>
          <p:cNvCxnSpPr/>
          <p:nvPr/>
        </p:nvCxnSpPr>
        <p:spPr>
          <a:xfrm>
            <a:off x="1152000" y="720000"/>
            <a:ext cx="12456000" cy="0"/>
          </a:xfrm>
          <a:prstGeom prst="straightConnector1">
            <a:avLst/>
          </a:prstGeom>
          <a:noFill/>
          <a:ln w="29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" name="Google Shape;113;p13"/>
          <p:cNvCxnSpPr/>
          <p:nvPr/>
        </p:nvCxnSpPr>
        <p:spPr>
          <a:xfrm>
            <a:off x="1116000" y="7380000"/>
            <a:ext cx="12456000" cy="0"/>
          </a:xfrm>
          <a:prstGeom prst="straightConnector1">
            <a:avLst/>
          </a:prstGeom>
          <a:noFill/>
          <a:ln w="29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13"/>
          <p:cNvSpPr/>
          <p:nvPr/>
        </p:nvSpPr>
        <p:spPr>
          <a:xfrm>
            <a:off x="12569760" y="7636680"/>
            <a:ext cx="2050800" cy="592800"/>
          </a:xfrm>
          <a:prstGeom prst="rect">
            <a:avLst/>
          </a:prstGeom>
          <a:solidFill>
            <a:srgbClr val="29292C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5760000" y="0"/>
            <a:ext cx="37800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Конкуренты</a:t>
            </a:r>
            <a:endParaRPr sz="4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/>
          <p:nvPr/>
        </p:nvSpPr>
        <p:spPr>
          <a:xfrm>
            <a:off x="2841744" y="480756"/>
            <a:ext cx="5803106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 b="0" i="0" u="none" strike="noStrike" cap="none">
              <a:solidFill>
                <a:srgbClr val="CBCCCE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793790" y="3054668"/>
            <a:ext cx="3564584" cy="1005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50" b="0" i="0" u="none" strike="noStrike" cap="none">
              <a:solidFill>
                <a:srgbClr val="CFD0D8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8654153" y="2972372"/>
            <a:ext cx="5199102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rgbClr val="CFD0D8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8645009" y="3583858"/>
            <a:ext cx="5191545" cy="214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rgbClr val="CFD0D8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12569578" y="7636475"/>
            <a:ext cx="2051221" cy="593124"/>
          </a:xfrm>
          <a:prstGeom prst="rect">
            <a:avLst/>
          </a:prstGeom>
          <a:solidFill>
            <a:srgbClr val="36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648883" y="608850"/>
            <a:ext cx="721913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Программная часть проекта 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2005911" y="1763464"/>
            <a:ext cx="254549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4" descr="Изображение выглядит как круг, шаблон, Симметрия, дизайн&#10;&#10;Содержимое, созданное искусственным интеллектом, может быть неверным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5859" y="4839388"/>
            <a:ext cx="934880" cy="89393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/>
          <p:nvPr/>
        </p:nvSpPr>
        <p:spPr>
          <a:xfrm>
            <a:off x="1997677" y="4934464"/>
            <a:ext cx="255372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MediaPipe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2113005" y="6339015"/>
            <a:ext cx="236014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7318158" y="2054523"/>
            <a:ext cx="1667343" cy="1043636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8785052" y="3723901"/>
            <a:ext cx="5191545" cy="214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>
              <a:solidFill>
                <a:srgbClr val="CFD0D8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10415585" y="2017946"/>
            <a:ext cx="1667343" cy="1043636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7318158" y="3940988"/>
            <a:ext cx="1667343" cy="1043636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10415585" y="3940987"/>
            <a:ext cx="1667343" cy="1043636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7318158" y="5819216"/>
            <a:ext cx="1667343" cy="1043636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10407347" y="5819215"/>
            <a:ext cx="1667343" cy="1043636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" name="Google Shape;138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47995" y="2179442"/>
            <a:ext cx="816855" cy="79214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4"/>
          <p:cNvSpPr txBox="1"/>
          <p:nvPr/>
        </p:nvSpPr>
        <p:spPr>
          <a:xfrm>
            <a:off x="7414054" y="3113902"/>
            <a:ext cx="156930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Камера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4" descr="Изображение выглядит как круг, шаблон, Симметрия, дизайн&#10;&#10;Содержимое, созданное искусственным интеллектом, может быть неверным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03522" y="2179442"/>
            <a:ext cx="843440" cy="72934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4"/>
          <p:cNvSpPr txBox="1"/>
          <p:nvPr/>
        </p:nvSpPr>
        <p:spPr>
          <a:xfrm>
            <a:off x="10420019" y="3113902"/>
            <a:ext cx="175616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MediaPipe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7038335" y="5078834"/>
            <a:ext cx="223879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Android</a:t>
            </a:r>
            <a:r>
              <a:rPr lang="ru-RU" sz="20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ru-RU" sz="20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-RU" sz="20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приложение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7296525" y="6918703"/>
            <a:ext cx="1957455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Хранение данных</a:t>
            </a:r>
            <a:endParaRPr sz="2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8837327" y="605890"/>
            <a:ext cx="176854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Схема</a:t>
            </a: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9131643" y="2323070"/>
            <a:ext cx="1087394" cy="59312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12220832" y="2471350"/>
            <a:ext cx="1013254" cy="2372497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9067715" y="4193740"/>
            <a:ext cx="1207080" cy="606195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4" descr="Изображение выглядит как черный, темнота&#10;&#10;Содержимое, созданное искусственным интеллектом, может быть неверным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18030" y="5904908"/>
            <a:ext cx="828932" cy="83717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/>
          <p:nvPr/>
        </p:nvSpPr>
        <p:spPr>
          <a:xfrm>
            <a:off x="6067167" y="4423718"/>
            <a:ext cx="1050324" cy="2211859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10025448" y="7043350"/>
            <a:ext cx="270613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Обратная связь</a:t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9115167" y="6038334"/>
            <a:ext cx="1153297" cy="61371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12569577" y="7636475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12721977" y="7788875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0980" y="1378291"/>
            <a:ext cx="819759" cy="1505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4848" y="3180549"/>
            <a:ext cx="2463089" cy="1167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7496" y="6150311"/>
            <a:ext cx="1006726" cy="100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70691" y="4036283"/>
            <a:ext cx="889948" cy="88994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"/>
          <p:cNvSpPr/>
          <p:nvPr/>
        </p:nvSpPr>
        <p:spPr>
          <a:xfrm>
            <a:off x="10537653" y="5067082"/>
            <a:ext cx="14193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885904" y="3985961"/>
            <a:ext cx="476859" cy="87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449029" y="6005377"/>
            <a:ext cx="1405599" cy="66625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142;p14"/>
          <p:cNvSpPr txBox="1"/>
          <p:nvPr/>
        </p:nvSpPr>
        <p:spPr>
          <a:xfrm>
            <a:off x="9199437" y="4366052"/>
            <a:ext cx="1622322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Android Bridge</a:t>
            </a:r>
            <a:endParaRPr sz="11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15"/>
          <p:cNvCxnSpPr>
            <a:endCxn id="167" idx="1"/>
          </p:cNvCxnSpPr>
          <p:nvPr/>
        </p:nvCxnSpPr>
        <p:spPr>
          <a:xfrm rot="-5400000">
            <a:off x="3806868" y="2601868"/>
            <a:ext cx="2879700" cy="1157100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68" name="Google Shape;168;p15"/>
          <p:cNvCxnSpPr>
            <a:stCxn id="167" idx="1"/>
          </p:cNvCxnSpPr>
          <p:nvPr/>
        </p:nvCxnSpPr>
        <p:spPr>
          <a:xfrm flipH="1">
            <a:off x="1868868" y="1740568"/>
            <a:ext cx="3956400" cy="4748400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9" name="Google Shape;169;p15"/>
          <p:cNvSpPr/>
          <p:nvPr/>
        </p:nvSpPr>
        <p:spPr>
          <a:xfrm>
            <a:off x="12579179" y="7652518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5268" y="754593"/>
            <a:ext cx="7487695" cy="19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4683" y="4434066"/>
            <a:ext cx="5545906" cy="29843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5"/>
          <p:cNvCxnSpPr/>
          <p:nvPr/>
        </p:nvCxnSpPr>
        <p:spPr>
          <a:xfrm>
            <a:off x="8213558" y="2890764"/>
            <a:ext cx="2590800" cy="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72" name="Google Shape;172;p15"/>
          <p:cNvCxnSpPr/>
          <p:nvPr/>
        </p:nvCxnSpPr>
        <p:spPr>
          <a:xfrm flipH="1">
            <a:off x="6720297" y="4924789"/>
            <a:ext cx="18102" cy="2002923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73" name="Google Shape;173;p15"/>
          <p:cNvCxnSpPr/>
          <p:nvPr/>
        </p:nvCxnSpPr>
        <p:spPr>
          <a:xfrm>
            <a:off x="8213558" y="581315"/>
            <a:ext cx="2590800" cy="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74" name="Google Shape;174;p15"/>
          <p:cNvCxnSpPr/>
          <p:nvPr/>
        </p:nvCxnSpPr>
        <p:spPr>
          <a:xfrm flipH="1">
            <a:off x="356873" y="4924788"/>
            <a:ext cx="18102" cy="2002923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75" name="Google Shape;175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13558" y="3778483"/>
            <a:ext cx="3519897" cy="35198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5"/>
          <p:cNvCxnSpPr>
            <a:stCxn id="167" idx="1"/>
            <a:endCxn id="170" idx="0"/>
          </p:cNvCxnSpPr>
          <p:nvPr/>
        </p:nvCxnSpPr>
        <p:spPr>
          <a:xfrm flipH="1">
            <a:off x="3547668" y="1740568"/>
            <a:ext cx="2277600" cy="2693400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/>
          <p:nvPr/>
        </p:nvSpPr>
        <p:spPr>
          <a:xfrm>
            <a:off x="3919033" y="196537"/>
            <a:ext cx="6168864" cy="1296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3300"/>
              <a:buFont typeface="Instrument Sans SemiBold"/>
              <a:buNone/>
            </a:pPr>
            <a:r>
              <a:rPr lang="ru-RU" sz="5400" b="0" i="0" u="none" strike="noStrike" cap="none" dirty="0" smtClean="0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Развитие проекта </a:t>
            </a:r>
            <a:endParaRPr sz="5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2"/>
          <p:cNvSpPr/>
          <p:nvPr/>
        </p:nvSpPr>
        <p:spPr>
          <a:xfrm>
            <a:off x="1193365" y="3017943"/>
            <a:ext cx="4194600" cy="1295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</a:pPr>
            <a:r>
              <a:rPr lang="ru-RU" sz="2800" dirty="0" smtClean="0">
                <a:solidFill>
                  <a:srgbClr val="CFD0D8"/>
                </a:solidFill>
                <a:latin typeface="Calibri"/>
                <a:ea typeface="Calibri"/>
                <a:cs typeface="Calibri"/>
                <a:sym typeface="Instrument Sans Medium"/>
              </a:rPr>
              <a:t>Недостаточное количество упражнений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2"/>
          <p:cNvSpPr/>
          <p:nvPr/>
        </p:nvSpPr>
        <p:spPr>
          <a:xfrm>
            <a:off x="1193365" y="4287139"/>
            <a:ext cx="4194600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1538"/>
              </a:lnSpc>
              <a:buClr>
                <a:srgbClr val="CFD0D8"/>
              </a:buClr>
              <a:buSzPts val="1700"/>
            </a:pPr>
            <a:r>
              <a:rPr lang="ru-RU" sz="2800" dirty="0" smtClean="0">
                <a:solidFill>
                  <a:srgbClr val="CFD0D8"/>
                </a:solidFill>
                <a:latin typeface="Calibri"/>
                <a:ea typeface="Calibri"/>
                <a:cs typeface="Calibri"/>
                <a:sym typeface="Instrument Sans Medium"/>
              </a:rPr>
              <a:t>Отсутствие калибровки</a:t>
            </a:r>
            <a:endParaRPr lang="ru-RU" sz="2800" b="1" dirty="0"/>
          </a:p>
        </p:txBody>
      </p:sp>
      <p:sp>
        <p:nvSpPr>
          <p:cNvPr id="98" name="Google Shape;98;p12"/>
          <p:cNvSpPr/>
          <p:nvPr/>
        </p:nvSpPr>
        <p:spPr>
          <a:xfrm>
            <a:off x="1193365" y="5355231"/>
            <a:ext cx="4194600" cy="148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</a:pPr>
            <a:r>
              <a:rPr lang="ru-RU" sz="2800" dirty="0" smtClean="0">
                <a:solidFill>
                  <a:srgbClr val="CFD0D8"/>
                </a:solidFill>
                <a:latin typeface="Calibri"/>
                <a:ea typeface="Calibri"/>
                <a:cs typeface="Calibri"/>
                <a:sym typeface="Instrument Sans Medium"/>
              </a:rPr>
              <a:t>Отсутствие примера правильной техники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2"/>
          <p:cNvSpPr/>
          <p:nvPr/>
        </p:nvSpPr>
        <p:spPr>
          <a:xfrm>
            <a:off x="1193364" y="6645265"/>
            <a:ext cx="4194600" cy="10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Instrument Sans Medium"/>
              <a:buNone/>
            </a:pPr>
            <a:r>
              <a:rPr lang="ru-RU" sz="2800" dirty="0" smtClean="0">
                <a:solidFill>
                  <a:srgbClr val="CFD0D8"/>
                </a:solidFill>
                <a:latin typeface="Calibri"/>
                <a:ea typeface="Calibri"/>
                <a:cs typeface="Calibri"/>
                <a:sym typeface="Instrument Sans Medium"/>
              </a:rPr>
              <a:t>Погрешность при анализе техники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10690384" y="2931914"/>
            <a:ext cx="3357086" cy="26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10690384" y="3353633"/>
            <a:ext cx="3357086" cy="26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10690384" y="3710773"/>
            <a:ext cx="3357086" cy="26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2"/>
          <p:cNvSpPr/>
          <p:nvPr/>
        </p:nvSpPr>
        <p:spPr>
          <a:xfrm>
            <a:off x="12569578" y="7636475"/>
            <a:ext cx="2051221" cy="593124"/>
          </a:xfrm>
          <a:prstGeom prst="rect">
            <a:avLst/>
          </a:prstGeom>
          <a:solidFill>
            <a:srgbClr val="36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2"/>
          <p:cNvSpPr/>
          <p:nvPr/>
        </p:nvSpPr>
        <p:spPr>
          <a:xfrm>
            <a:off x="12569577" y="7636475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76684" y="1554000"/>
            <a:ext cx="6809878" cy="10640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1538"/>
              </a:lnSpc>
              <a:buClr>
                <a:srgbClr val="CFD0D8"/>
              </a:buClr>
              <a:buSzPts val="1700"/>
            </a:pPr>
            <a:r>
              <a:rPr lang="ru-RU" sz="4400" dirty="0" smtClean="0">
                <a:solidFill>
                  <a:srgbClr val="CFD0D8"/>
                </a:solidFill>
                <a:latin typeface="Calibri"/>
                <a:ea typeface="Calibri"/>
                <a:cs typeface="Calibri"/>
                <a:sym typeface="Calibri"/>
              </a:rPr>
              <a:t>Также</a:t>
            </a:r>
            <a:r>
              <a:rPr lang="ru-RU" sz="4000" dirty="0" smtClean="0">
                <a:solidFill>
                  <a:srgbClr val="CFD0D8"/>
                </a:solidFill>
                <a:latin typeface="Calibri"/>
                <a:ea typeface="Calibri"/>
                <a:cs typeface="Calibri"/>
                <a:sym typeface="Calibri"/>
              </a:rPr>
              <a:t> планируется добавить</a:t>
            </a:r>
            <a:r>
              <a:rPr lang="en-US" sz="4000" dirty="0" smtClean="0">
                <a:solidFill>
                  <a:srgbClr val="CFD0D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ru-RU" sz="4000" dirty="0">
              <a:solidFill>
                <a:srgbClr val="CFD0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376684" y="2756278"/>
            <a:ext cx="2961067" cy="7106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1538"/>
              </a:lnSpc>
              <a:buClr>
                <a:srgbClr val="CFD0D8"/>
              </a:buClr>
              <a:buSzPts val="1700"/>
            </a:pPr>
            <a:r>
              <a:rPr lang="ru-RU" sz="2800" dirty="0" smtClean="0">
                <a:solidFill>
                  <a:srgbClr val="CFD0D8"/>
                </a:solidFill>
                <a:latin typeface="Calibri"/>
                <a:ea typeface="Calibri"/>
                <a:cs typeface="Calibri"/>
                <a:sym typeface="Instrument Sans Medium"/>
              </a:rPr>
              <a:t>Контроль питания</a:t>
            </a:r>
            <a:endParaRPr lang="ru-RU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270746" y="4090581"/>
            <a:ext cx="7324441" cy="7106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1538"/>
              </a:lnSpc>
              <a:buClr>
                <a:srgbClr val="CFD0D8"/>
              </a:buClr>
              <a:buSzPts val="1700"/>
            </a:pPr>
            <a:r>
              <a:rPr lang="ru-RU" sz="2800" dirty="0" smtClean="0">
                <a:solidFill>
                  <a:srgbClr val="CFD0D8"/>
                </a:solidFill>
                <a:latin typeface="Calibri"/>
                <a:ea typeface="Calibri"/>
                <a:cs typeface="Calibri"/>
                <a:sym typeface="Instrument Sans Medium"/>
              </a:rPr>
              <a:t>Возможность создавать свой план тренировок</a:t>
            </a:r>
            <a:endParaRPr lang="ru-RU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193365" y="1554583"/>
            <a:ext cx="2908168" cy="10640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1538"/>
              </a:lnSpc>
              <a:buClr>
                <a:srgbClr val="CFD0D8"/>
              </a:buClr>
              <a:buSzPts val="1700"/>
            </a:pPr>
            <a:r>
              <a:rPr lang="ru-RU" sz="4400" dirty="0" smtClean="0">
                <a:solidFill>
                  <a:srgbClr val="CFD0D8"/>
                </a:solidFill>
                <a:latin typeface="Calibri"/>
                <a:ea typeface="Calibri"/>
                <a:cs typeface="Calibri"/>
                <a:sym typeface="Instrument Sans Medium"/>
              </a:rPr>
              <a:t>Проблемы</a:t>
            </a:r>
            <a:r>
              <a:rPr lang="en-US" sz="4400" dirty="0" smtClean="0">
                <a:solidFill>
                  <a:srgbClr val="CFD0D8"/>
                </a:solidFill>
                <a:latin typeface="Calibri"/>
                <a:ea typeface="Calibri"/>
                <a:cs typeface="Calibri"/>
                <a:sym typeface="Instrument Sans Medium"/>
              </a:rPr>
              <a:t>:</a:t>
            </a:r>
            <a:endParaRPr lang="ru-RU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6197631" y="5097937"/>
            <a:ext cx="7285969" cy="7106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1538"/>
              </a:lnSpc>
              <a:buClr>
                <a:srgbClr val="CFD0D8"/>
              </a:buClr>
              <a:buSzPts val="1700"/>
            </a:pPr>
            <a:r>
              <a:rPr lang="ru-RU" sz="2800" dirty="0" smtClean="0">
                <a:solidFill>
                  <a:srgbClr val="CFD0D8"/>
                </a:solidFill>
                <a:latin typeface="Calibri"/>
                <a:ea typeface="Calibri"/>
                <a:cs typeface="Calibri"/>
                <a:sym typeface="Instrument Sans Medium"/>
              </a:rPr>
              <a:t>Возможность отслеживания своего прогресса </a:t>
            </a:r>
            <a:endParaRPr lang="ru-RU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9238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254865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6"/>
          <p:cNvSpPr/>
          <p:nvPr/>
        </p:nvSpPr>
        <p:spPr>
          <a:xfrm>
            <a:off x="713542" y="3374588"/>
            <a:ext cx="11916966" cy="63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4000"/>
              <a:buFont typeface="Instrument Sans SemiBold"/>
              <a:buNone/>
            </a:pPr>
            <a:r>
              <a:rPr lang="en-US" sz="4000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Будущее тренировок: Инновации и доступность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713542" y="4317444"/>
            <a:ext cx="13203317" cy="65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Instrument Sans Medium"/>
              <a:buNone/>
            </a:pPr>
            <a:r>
              <a:rPr lang="en-US" sz="160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Мобильное приложение с ИИ — это полноценный инструмент для достижения ваших фитнес-целей. Оно сочетает в себе профессиональный контроль, доступность и удобство, открывая новую эру в домашнем фитнесе.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713542" y="5199221"/>
            <a:ext cx="4265176" cy="1516261"/>
          </a:xfrm>
          <a:prstGeom prst="roundRect">
            <a:avLst>
              <a:gd name="adj" fmla="val 32274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924997" y="5410676"/>
            <a:ext cx="2548652" cy="318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00"/>
              <a:buFont typeface="Instrument Sans SemiBold"/>
              <a:buNone/>
            </a:pPr>
            <a:r>
              <a:rPr lang="en-US" sz="2000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Новый уровень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924997" y="5851565"/>
            <a:ext cx="3842266" cy="65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Instrument Sans Medium"/>
              <a:buNone/>
            </a:pPr>
            <a:r>
              <a:rPr lang="en-US" sz="160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Профессиональный контроль у вас дома.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5182553" y="5199221"/>
            <a:ext cx="4265176" cy="1516261"/>
          </a:xfrm>
          <a:prstGeom prst="roundRect">
            <a:avLst>
              <a:gd name="adj" fmla="val 32274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5394008" y="5410676"/>
            <a:ext cx="2548652" cy="318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00"/>
              <a:buFont typeface="Instrument Sans SemiBold"/>
              <a:buNone/>
            </a:pPr>
            <a:r>
              <a:rPr lang="en-US" sz="2000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Без аналогов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5394008" y="5851565"/>
            <a:ext cx="3842266" cy="65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Instrument Sans Medium"/>
              <a:buNone/>
            </a:pPr>
            <a:r>
              <a:rPr lang="en-US" sz="160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Уникальный продукт на рынке фитнес-технологий.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9651563" y="5199221"/>
            <a:ext cx="4265176" cy="1516261"/>
          </a:xfrm>
          <a:prstGeom prst="roundRect">
            <a:avLst>
              <a:gd name="adj" fmla="val 32274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9863018" y="5410676"/>
            <a:ext cx="2548652" cy="318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00"/>
              <a:buFont typeface="Instrument Sans SemiBold"/>
              <a:buNone/>
            </a:pPr>
            <a:r>
              <a:rPr lang="en-US" sz="2000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Ваш путь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9863018" y="5851565"/>
            <a:ext cx="3842266" cy="65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Instrument Sans Medium"/>
              <a:buNone/>
            </a:pPr>
            <a:r>
              <a:rPr lang="en-US" sz="1600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К правильным и безопасным тренировкам.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713542" y="7021235"/>
            <a:ext cx="12252722" cy="382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2400"/>
              <a:buFont typeface="Instrument Sans SemiBold"/>
              <a:buNone/>
            </a:pPr>
            <a:r>
              <a:rPr lang="en-US" sz="2400" dirty="0" err="1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Присоединяйтесь</a:t>
            </a:r>
            <a:r>
              <a:rPr lang="en-US" sz="2400" dirty="0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к </a:t>
            </a:r>
            <a:r>
              <a:rPr lang="en-US" sz="2400" dirty="0" err="1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революции</a:t>
            </a:r>
            <a:r>
              <a:rPr lang="en-US" sz="2400" dirty="0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в </a:t>
            </a:r>
            <a:r>
              <a:rPr lang="en-US" sz="2400" dirty="0" err="1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спорте</a:t>
            </a:r>
            <a:r>
              <a:rPr lang="en-US" sz="2400" dirty="0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и </a:t>
            </a:r>
            <a:r>
              <a:rPr lang="en-US" sz="2400" dirty="0" err="1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здоровом</a:t>
            </a:r>
            <a:r>
              <a:rPr lang="en-US" sz="2400" dirty="0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</a:t>
            </a:r>
            <a:r>
              <a:rPr lang="en-US" sz="2400" dirty="0" err="1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образе</a:t>
            </a:r>
            <a:r>
              <a:rPr lang="en-US" sz="2400" dirty="0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</a:t>
            </a:r>
            <a:r>
              <a:rPr lang="en-US" sz="2400" dirty="0" err="1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жизни</a:t>
            </a:r>
            <a:r>
              <a:rPr lang="en-US" sz="2400" dirty="0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с </a:t>
            </a:r>
            <a:r>
              <a:rPr lang="en-US" sz="2400" dirty="0" err="1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помощью</a:t>
            </a:r>
            <a:r>
              <a:rPr lang="en-US" sz="2400" dirty="0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ИИ!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12569578" y="7636475"/>
            <a:ext cx="2051221" cy="593124"/>
          </a:xfrm>
          <a:prstGeom prst="rect">
            <a:avLst/>
          </a:prstGeom>
          <a:solidFill>
            <a:srgbClr val="36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12569577" y="7636475"/>
            <a:ext cx="2051221" cy="593124"/>
          </a:xfrm>
          <a:prstGeom prst="rect">
            <a:avLst/>
          </a:prstGeom>
          <a:solidFill>
            <a:srgbClr val="2B2B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346</Words>
  <Application>Microsoft Office PowerPoint</Application>
  <PresentationFormat>Произвольный</PresentationFormat>
  <Paragraphs>88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Instrument Sans Medium</vt:lpstr>
      <vt:lpstr>Calibri</vt:lpstr>
      <vt:lpstr>Instrument Sans SemiBold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Студент Фрязино</dc:creator>
  <cp:lastModifiedBy>Студент Фрязино</cp:lastModifiedBy>
  <cp:revision>9</cp:revision>
  <dcterms:modified xsi:type="dcterms:W3CDTF">2026-05-28T16:38:25Z</dcterms:modified>
</cp:coreProperties>
</file>